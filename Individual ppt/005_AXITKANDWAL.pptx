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B89566-663E-4D29-850B-DFFE1C07AF9F}" v="1" dt="2026-05-07T02:04:04.08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408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DEFF9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3341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DEFF9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3341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DEFF9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DEFF9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889846"/>
            <a:ext cx="6384925" cy="9144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DEFF9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8800" y="2722594"/>
            <a:ext cx="11074400" cy="2360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3341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889846"/>
            <a:ext cx="8432800" cy="1718435"/>
          </a:xfrm>
          <a:prstGeom prst="rect">
            <a:avLst/>
          </a:prstGeom>
        </p:spPr>
        <p:txBody>
          <a:bodyPr vert="horz" wrap="square" lIns="0" tIns="10161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5250" dirty="0"/>
              <a:t>Smart </a:t>
            </a:r>
            <a:r>
              <a:rPr sz="5250" dirty="0"/>
              <a:t>Railway</a:t>
            </a:r>
            <a:r>
              <a:rPr sz="5250" spc="-365" dirty="0"/>
              <a:t> </a:t>
            </a:r>
            <a:r>
              <a:rPr lang="en-IN" sz="5250" spc="-125" dirty="0"/>
              <a:t>Management System</a:t>
            </a:r>
            <a:endParaRPr sz="5250" dirty="0"/>
          </a:p>
        </p:txBody>
      </p:sp>
      <p:sp>
        <p:nvSpPr>
          <p:cNvPr id="3" name="object 3"/>
          <p:cNvSpPr txBox="1"/>
          <p:nvPr/>
        </p:nvSpPr>
        <p:spPr>
          <a:xfrm>
            <a:off x="558800" y="2911271"/>
            <a:ext cx="65278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0" dirty="0">
                <a:solidFill>
                  <a:srgbClr val="DAFFDE"/>
                </a:solidFill>
                <a:latin typeface="Trebuchet MS"/>
                <a:cs typeface="Trebuchet MS"/>
              </a:rPr>
              <a:t>Algorithmic</a:t>
            </a:r>
            <a:r>
              <a:rPr sz="2400" b="1" spc="-11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2400" b="1" spc="-45" dirty="0">
                <a:solidFill>
                  <a:srgbClr val="DAFFDE"/>
                </a:solidFill>
                <a:latin typeface="Trebuchet MS"/>
                <a:cs typeface="Trebuchet MS"/>
              </a:rPr>
              <a:t>Logic</a:t>
            </a:r>
            <a:r>
              <a:rPr sz="2400" b="1" spc="-11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2400" b="1" spc="50" dirty="0">
                <a:solidFill>
                  <a:srgbClr val="DAFFDE"/>
                </a:solidFill>
                <a:latin typeface="Trebuchet MS"/>
                <a:cs typeface="Trebuchet MS"/>
              </a:rPr>
              <a:t>and</a:t>
            </a:r>
            <a:r>
              <a:rPr sz="2400" b="1" spc="-11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lang="en-IN" sz="2400" b="1" spc="-110" dirty="0">
                <a:solidFill>
                  <a:srgbClr val="DAFFDE"/>
                </a:solidFill>
                <a:latin typeface="Trebuchet MS"/>
                <a:cs typeface="Trebuchet MS"/>
              </a:rPr>
              <a:t>Data Structure design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800" y="4882388"/>
            <a:ext cx="3327400" cy="7307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650" spc="-7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Presenter:</a:t>
            </a:r>
            <a:r>
              <a:rPr sz="1650" spc="-5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Axit </a:t>
            </a:r>
            <a:r>
              <a:rPr sz="1650" b="1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Kandwal</a:t>
            </a:r>
            <a:endParaRPr sz="165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  <a:p>
            <a:pPr marL="12700" marR="715645">
              <a:lnSpc>
                <a:spcPts val="2970"/>
              </a:lnSpc>
            </a:pPr>
            <a:r>
              <a:rPr sz="1650" spc="-10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Roll</a:t>
            </a:r>
            <a:r>
              <a:rPr sz="1650" spc="-9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650" spc="-10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No:</a:t>
            </a:r>
            <a:r>
              <a:rPr sz="1650" spc="-8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lang="en-IN" sz="1650" spc="-8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00</a:t>
            </a:r>
            <a:r>
              <a:rPr sz="165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5</a:t>
            </a:r>
            <a:r>
              <a:rPr sz="1650" spc="-8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650" spc="-52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|</a:t>
            </a:r>
            <a:r>
              <a:rPr sz="1650" spc="-8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650" spc="-2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AI </a:t>
            </a:r>
            <a:r>
              <a:rPr sz="165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Department</a:t>
            </a:r>
            <a:endParaRPr sz="165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2D7DD995-5036-1F10-301C-69AA3EF5EEDA}"/>
              </a:ext>
            </a:extLst>
          </p:cNvPr>
          <p:cNvSpPr/>
          <p:nvPr/>
        </p:nvSpPr>
        <p:spPr>
          <a:xfrm>
            <a:off x="457200" y="48006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11048999" y="9524"/>
                </a:moveTo>
                <a:lnTo>
                  <a:pt x="0" y="9524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9524"/>
                </a:lnTo>
                <a:close/>
              </a:path>
            </a:pathLst>
          </a:custGeom>
          <a:solidFill>
            <a:srgbClr val="DAFFD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86500" y="2002631"/>
            <a:ext cx="5334000" cy="4000500"/>
            <a:chOff x="6286500" y="2002631"/>
            <a:chExt cx="5334000" cy="4000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6500" y="2002631"/>
              <a:ext cx="5333999" cy="40004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5550" y="2021681"/>
              <a:ext cx="5295899" cy="396239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90551" y="2514600"/>
            <a:ext cx="4787900" cy="26673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spc="-2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Automation</a:t>
            </a:r>
            <a:r>
              <a:rPr sz="2000" spc="-7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in</a:t>
            </a:r>
            <a:r>
              <a:rPr sz="2000" spc="-7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railways</a:t>
            </a:r>
            <a:r>
              <a:rPr sz="2000" spc="-7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is </a:t>
            </a:r>
            <a:r>
              <a:rPr sz="2000" spc="9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a</a:t>
            </a:r>
            <a:r>
              <a:rPr sz="2000" spc="-7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complex</a:t>
            </a:r>
            <a:r>
              <a:rPr sz="2000" spc="-7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orchestration</a:t>
            </a:r>
            <a:r>
              <a:rPr sz="2000" spc="-7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of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database</a:t>
            </a:r>
            <a:r>
              <a:rPr sz="2000" spc="4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state</a:t>
            </a:r>
            <a:r>
              <a:rPr sz="2000" spc="4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and</a:t>
            </a:r>
            <a:r>
              <a:rPr sz="2000" spc="4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memory-</a:t>
            </a:r>
            <a:r>
              <a:rPr sz="2000" spc="-3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resident</a:t>
            </a:r>
            <a:r>
              <a:rPr sz="2000" spc="4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logic.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  <a:p>
            <a:pPr marL="431800" indent="-121920">
              <a:lnSpc>
                <a:spcPct val="100000"/>
              </a:lnSpc>
              <a:spcBef>
                <a:spcPts val="1650"/>
              </a:spcBef>
              <a:buChar char="•"/>
              <a:tabLst>
                <a:tab pos="431800" algn="l"/>
              </a:tabLst>
            </a:pPr>
            <a:r>
              <a:rPr sz="2000" spc="-4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Registration</a:t>
            </a:r>
            <a:r>
              <a:rPr sz="2000" spc="-5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&amp;</a:t>
            </a:r>
            <a:r>
              <a:rPr sz="2000" spc="-5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Secure</a:t>
            </a:r>
            <a:r>
              <a:rPr sz="2000" spc="-5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Authentication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  <a:p>
            <a:pPr marL="431800" indent="-121920">
              <a:lnSpc>
                <a:spcPct val="100000"/>
              </a:lnSpc>
              <a:spcBef>
                <a:spcPts val="495"/>
              </a:spcBef>
              <a:buChar char="•"/>
              <a:tabLst>
                <a:tab pos="431800" algn="l"/>
              </a:tabLst>
            </a:pPr>
            <a:r>
              <a:rPr sz="2000" spc="-2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Real-</a:t>
            </a:r>
            <a:r>
              <a:rPr sz="2000" spc="-4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time</a:t>
            </a:r>
            <a:r>
              <a:rPr sz="2000" spc="-4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Status</a:t>
            </a:r>
            <a:r>
              <a:rPr sz="2000" spc="-4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Monitoring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  <a:p>
            <a:pPr marL="431800" indent="-121920">
              <a:lnSpc>
                <a:spcPct val="100000"/>
              </a:lnSpc>
              <a:spcBef>
                <a:spcPts val="495"/>
              </a:spcBef>
              <a:buChar char="•"/>
              <a:tabLst>
                <a:tab pos="431800" algn="l"/>
              </a:tabLst>
            </a:pP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Autonomous</a:t>
            </a:r>
            <a:r>
              <a:rPr sz="2000" spc="-1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Seat</a:t>
            </a:r>
            <a:r>
              <a:rPr sz="2000" spc="-10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Allocation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The</a:t>
            </a:r>
            <a:r>
              <a:rPr spc="-190" dirty="0"/>
              <a:t> </a:t>
            </a:r>
            <a:r>
              <a:rPr spc="-155" dirty="0"/>
              <a:t>Foundation:</a:t>
            </a:r>
            <a:r>
              <a:rPr spc="-185" dirty="0"/>
              <a:t> </a:t>
            </a:r>
            <a:r>
              <a:rPr spc="55" dirty="0"/>
              <a:t>Smart</a:t>
            </a:r>
            <a:r>
              <a:rPr spc="-185" dirty="0"/>
              <a:t> </a:t>
            </a:r>
            <a:r>
              <a:rPr spc="-10" dirty="0"/>
              <a:t>Railways</a:t>
            </a:r>
          </a:p>
        </p:txBody>
      </p:sp>
      <p:sp>
        <p:nvSpPr>
          <p:cNvPr id="7" name="object 7"/>
          <p:cNvSpPr/>
          <p:nvPr/>
        </p:nvSpPr>
        <p:spPr>
          <a:xfrm>
            <a:off x="571500" y="1424136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11048999" y="9524"/>
                </a:moveTo>
                <a:lnTo>
                  <a:pt x="0" y="9524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9524"/>
                </a:lnTo>
                <a:close/>
              </a:path>
            </a:pathLst>
          </a:custGeom>
          <a:solidFill>
            <a:srgbClr val="DAFFD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002631"/>
            <a:ext cx="5333999" cy="40004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500" y="3374230"/>
            <a:ext cx="5333999" cy="23050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0550" y="2021681"/>
            <a:ext cx="5295899" cy="39623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73800" y="2389219"/>
            <a:ext cx="5118100" cy="7278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650" spc="-4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We</a:t>
            </a:r>
            <a:r>
              <a:rPr sz="1650" spc="-7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leverage</a:t>
            </a:r>
            <a:r>
              <a:rPr sz="1650" spc="-6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650" spc="-4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Python</a:t>
            </a:r>
            <a:r>
              <a:rPr sz="1650" spc="-6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Dictionaries</a:t>
            </a:r>
            <a:r>
              <a:rPr sz="1650" b="1" spc="-7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650" spc="-4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to</a:t>
            </a:r>
            <a:r>
              <a:rPr sz="1650" spc="-6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650" spc="-5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eliminate</a:t>
            </a:r>
            <a:r>
              <a:rPr sz="1650" spc="-6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redundant </a:t>
            </a:r>
            <a:r>
              <a:rPr sz="165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DB</a:t>
            </a:r>
            <a:r>
              <a:rPr sz="1650" spc="-3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calls.</a:t>
            </a:r>
            <a:endParaRPr sz="165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0588" y="3949413"/>
            <a:ext cx="4445000" cy="1229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2400" b="1" spc="-110" dirty="0">
                <a:solidFill>
                  <a:srgbClr val="F4F4F4"/>
                </a:solidFill>
                <a:latin typeface="Trebuchet MS"/>
                <a:cs typeface="Trebuchet MS"/>
              </a:rPr>
              <a:t>O(1)</a:t>
            </a:r>
            <a:r>
              <a:rPr sz="2400" b="1" spc="-15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F4F4F4"/>
                </a:solidFill>
                <a:latin typeface="Trebuchet MS"/>
                <a:cs typeface="Trebuchet MS"/>
              </a:rPr>
              <a:t>Lookup</a:t>
            </a:r>
            <a:endParaRPr sz="2400" dirty="0">
              <a:latin typeface="Trebuchet MS"/>
              <a:cs typeface="Trebuchet MS"/>
            </a:endParaRPr>
          </a:p>
          <a:p>
            <a:pPr marL="12700" marR="5080" algn="ctr">
              <a:lnSpc>
                <a:spcPct val="150000"/>
              </a:lnSpc>
              <a:spcBef>
                <a:spcPts val="660"/>
              </a:spcBef>
            </a:pPr>
            <a:r>
              <a:rPr sz="165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Caching</a:t>
            </a:r>
            <a:r>
              <a:rPr sz="1650" spc="-4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station_cache</a:t>
            </a:r>
            <a:r>
              <a:rPr sz="1650" spc="-4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and</a:t>
            </a:r>
            <a:r>
              <a:rPr sz="1650" spc="-3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train_cache</a:t>
            </a:r>
            <a:r>
              <a:rPr sz="1650" spc="-4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ensures </a:t>
            </a:r>
            <a:r>
              <a:rPr sz="1650" spc="-2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immediate</a:t>
            </a:r>
            <a:r>
              <a:rPr sz="1650" spc="-7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650" spc="-6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UI</a:t>
            </a:r>
            <a:r>
              <a:rPr sz="1650" spc="-7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rendering.</a:t>
            </a:r>
            <a:endParaRPr sz="165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Key-</a:t>
            </a:r>
            <a:r>
              <a:rPr spc="-20" dirty="0"/>
              <a:t>Value</a:t>
            </a:r>
            <a:r>
              <a:rPr spc="-160" dirty="0"/>
              <a:t> </a:t>
            </a:r>
            <a:r>
              <a:rPr spc="-45" dirty="0"/>
              <a:t>Optimization</a:t>
            </a:r>
          </a:p>
        </p:txBody>
      </p:sp>
      <p:sp>
        <p:nvSpPr>
          <p:cNvPr id="8" name="object 8"/>
          <p:cNvSpPr/>
          <p:nvPr/>
        </p:nvSpPr>
        <p:spPr>
          <a:xfrm>
            <a:off x="571500" y="1424136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11048999" y="9524"/>
                </a:moveTo>
                <a:lnTo>
                  <a:pt x="0" y="9524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9524"/>
                </a:lnTo>
                <a:close/>
              </a:path>
            </a:pathLst>
          </a:custGeom>
          <a:solidFill>
            <a:srgbClr val="DAFFD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58800" y="2133600"/>
            <a:ext cx="5069205" cy="3462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64260">
              <a:lnSpc>
                <a:spcPct val="150000"/>
              </a:lnSpc>
              <a:spcBef>
                <a:spcPts val="100"/>
              </a:spcBef>
            </a:pPr>
            <a:r>
              <a:rPr sz="2000" b="1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Arrays</a:t>
            </a:r>
            <a:r>
              <a:rPr sz="2000" b="1" spc="-1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serve</a:t>
            </a:r>
            <a:r>
              <a:rPr sz="2000" spc="-9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as</a:t>
            </a:r>
            <a:r>
              <a:rPr sz="2000" spc="-9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2000" spc="-9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primary</a:t>
            </a:r>
            <a:r>
              <a:rPr sz="2000" spc="-9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mechanism</a:t>
            </a:r>
            <a:r>
              <a:rPr sz="2000" spc="-9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for </a:t>
            </a:r>
            <a:r>
              <a:rPr sz="2000" spc="-4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multi-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passenger</a:t>
            </a:r>
            <a:r>
              <a:rPr sz="2000" spc="13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bookings.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  <a:p>
            <a:pPr marL="431800" marR="268605" indent="-121920">
              <a:lnSpc>
                <a:spcPct val="150000"/>
              </a:lnSpc>
              <a:spcBef>
                <a:spcPts val="660"/>
              </a:spcBef>
              <a:buFont typeface="Trebuchet MS"/>
              <a:buChar char="•"/>
              <a:tabLst>
                <a:tab pos="431800" algn="l"/>
              </a:tabLst>
            </a:pPr>
            <a:r>
              <a:rPr sz="2000" b="1" spc="-8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Lists:</a:t>
            </a:r>
            <a:r>
              <a:rPr sz="2000" b="1" spc="-5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Accumulating</a:t>
            </a:r>
            <a:r>
              <a:rPr sz="2000" spc="-5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route</a:t>
            </a:r>
            <a:r>
              <a:rPr sz="2000" spc="-5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segments</a:t>
            </a:r>
            <a:r>
              <a:rPr sz="2000" spc="-5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to</a:t>
            </a:r>
            <a:r>
              <a:rPr sz="2000" spc="-5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calculate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dynamic</a:t>
            </a:r>
            <a:r>
              <a:rPr sz="2000" spc="-8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fares.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  <a:p>
            <a:pPr marL="431800" indent="-121920">
              <a:lnSpc>
                <a:spcPct val="100000"/>
              </a:lnSpc>
              <a:buFont typeface="Trebuchet MS"/>
              <a:buChar char="•"/>
              <a:tabLst>
                <a:tab pos="431800" algn="l"/>
              </a:tabLst>
            </a:pPr>
            <a:r>
              <a:rPr sz="2000" b="1" spc="-8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Tuples:</a:t>
            </a:r>
            <a:r>
              <a:rPr sz="2000" b="1" spc="-3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Immutable</a:t>
            </a:r>
            <a:r>
              <a:rPr sz="2000" spc="-2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database</a:t>
            </a:r>
            <a:r>
              <a:rPr sz="2000" spc="-2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rows</a:t>
            </a:r>
            <a:r>
              <a:rPr sz="2000" spc="-2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from</a:t>
            </a:r>
            <a:r>
              <a:rPr sz="2000" spc="-2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fetchone()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  <a:p>
            <a:pPr marL="431800">
              <a:lnSpc>
                <a:spcPct val="100000"/>
              </a:lnSpc>
              <a:spcBef>
                <a:spcPts val="990"/>
              </a:spcBef>
            </a:pPr>
            <a:r>
              <a:rPr sz="2000" spc="-4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for</a:t>
            </a:r>
            <a:r>
              <a:rPr sz="2000" spc="-1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safety.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Linear</a:t>
            </a:r>
            <a:r>
              <a:rPr spc="-190" dirty="0"/>
              <a:t> </a:t>
            </a:r>
            <a:r>
              <a:rPr spc="-75" dirty="0"/>
              <a:t>Processing</a:t>
            </a:r>
            <a:r>
              <a:rPr spc="-185" dirty="0"/>
              <a:t> </a:t>
            </a:r>
            <a:r>
              <a:rPr dirty="0"/>
              <a:t>&amp;</a:t>
            </a:r>
            <a:r>
              <a:rPr spc="-190" dirty="0"/>
              <a:t> </a:t>
            </a:r>
            <a:r>
              <a:rPr spc="-50" dirty="0"/>
              <a:t>Accumulation</a:t>
            </a:r>
          </a:p>
        </p:txBody>
      </p:sp>
      <p:sp>
        <p:nvSpPr>
          <p:cNvPr id="7" name="object 7"/>
          <p:cNvSpPr/>
          <p:nvPr/>
        </p:nvSpPr>
        <p:spPr>
          <a:xfrm>
            <a:off x="571500" y="1424136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11048999" y="9524"/>
                </a:moveTo>
                <a:lnTo>
                  <a:pt x="0" y="9524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9524"/>
                </a:lnTo>
                <a:close/>
              </a:path>
            </a:pathLst>
          </a:custGeom>
          <a:solidFill>
            <a:srgbClr val="DAFF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 descr="What is Array in Data Structure? Types &amp; Syntax">
            <a:extLst>
              <a:ext uri="{FF2B5EF4-FFF2-40B4-BE49-F238E27FC236}">
                <a16:creationId xmlns:a16="http://schemas.microsoft.com/office/drawing/2014/main" id="{250A50DE-5563-3509-6BB9-448BAE373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286000"/>
            <a:ext cx="5734649" cy="29691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273800" y="2994056"/>
            <a:ext cx="4798060" cy="2577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2000" spc="-6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cheapest</a:t>
            </a:r>
            <a:r>
              <a:rPr sz="2000" spc="-6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route</a:t>
            </a:r>
            <a:r>
              <a:rPr sz="2000" spc="-6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is</a:t>
            </a:r>
            <a:r>
              <a:rPr sz="2000" spc="-6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found</a:t>
            </a:r>
            <a:r>
              <a:rPr sz="2000" spc="-6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by</a:t>
            </a:r>
            <a:r>
              <a:rPr sz="2000" spc="-6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exploring</a:t>
            </a:r>
            <a:r>
              <a:rPr sz="2000" spc="-6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nodes</a:t>
            </a:r>
            <a:r>
              <a:rPr sz="2000" spc="-6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with </a:t>
            </a:r>
            <a:r>
              <a:rPr sz="2000" spc="-4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minimal</a:t>
            </a:r>
            <a:r>
              <a:rPr sz="2000" spc="-7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weight.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  <a:p>
            <a:pPr marL="431800" indent="-121920">
              <a:lnSpc>
                <a:spcPct val="100000"/>
              </a:lnSpc>
              <a:spcBef>
                <a:spcPts val="1650"/>
              </a:spcBef>
              <a:buChar char="•"/>
              <a:tabLst>
                <a:tab pos="431800" algn="l"/>
              </a:tabLst>
            </a:pPr>
            <a:r>
              <a:rPr sz="2000" spc="-6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Building</a:t>
            </a:r>
            <a:r>
              <a:rPr sz="2000" spc="-4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Graph</a:t>
            </a:r>
            <a:r>
              <a:rPr sz="2000" spc="-4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via</a:t>
            </a:r>
            <a:r>
              <a:rPr sz="2000" spc="-4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Adjacency</a:t>
            </a:r>
            <a:r>
              <a:rPr sz="2000" spc="-4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Lists.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  <a:p>
            <a:pPr marL="431800" indent="-121920">
              <a:lnSpc>
                <a:spcPct val="100000"/>
              </a:lnSpc>
              <a:spcBef>
                <a:spcPts val="495"/>
              </a:spcBef>
              <a:buChar char="•"/>
              <a:tabLst>
                <a:tab pos="431800" algn="l"/>
              </a:tabLst>
            </a:pP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Min-Heap</a:t>
            </a:r>
            <a:r>
              <a:rPr sz="2000" spc="2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for</a:t>
            </a:r>
            <a:r>
              <a:rPr sz="2000" spc="2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Greedy</a:t>
            </a:r>
            <a:r>
              <a:rPr sz="2000" spc="2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Exploration.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  <a:p>
            <a:pPr marL="431800" indent="-121920">
              <a:lnSpc>
                <a:spcPct val="100000"/>
              </a:lnSpc>
              <a:spcBef>
                <a:spcPts val="495"/>
              </a:spcBef>
              <a:buChar char="•"/>
              <a:tabLst>
                <a:tab pos="431800" algn="l"/>
              </a:tabLst>
            </a:pP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Optimal</a:t>
            </a:r>
            <a:r>
              <a:rPr sz="2000" spc="-9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path</a:t>
            </a:r>
            <a:r>
              <a:rPr sz="2000" spc="-1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reconstruction.</a:t>
            </a:r>
            <a:endParaRPr lang="en-IN" sz="2000" spc="-1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  <a:p>
            <a:pPr marL="431800" indent="-121920">
              <a:lnSpc>
                <a:spcPct val="100000"/>
              </a:lnSpc>
              <a:spcBef>
                <a:spcPts val="495"/>
              </a:spcBef>
              <a:buChar char="•"/>
              <a:tabLst>
                <a:tab pos="431800" algn="l"/>
              </a:tabLst>
            </a:pPr>
            <a:r>
              <a:rPr lang="en-IN"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Time Complexity = O((V+E)*log V)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Routing</a:t>
            </a:r>
            <a:r>
              <a:rPr spc="-175" dirty="0"/>
              <a:t> </a:t>
            </a:r>
            <a:r>
              <a:rPr spc="-130" dirty="0"/>
              <a:t>Logic:</a:t>
            </a:r>
            <a:r>
              <a:rPr spc="-175" dirty="0"/>
              <a:t> </a:t>
            </a:r>
            <a:r>
              <a:rPr spc="-85" dirty="0"/>
              <a:t>Dijkstra</a:t>
            </a:r>
          </a:p>
        </p:txBody>
      </p:sp>
      <p:sp>
        <p:nvSpPr>
          <p:cNvPr id="7" name="object 7"/>
          <p:cNvSpPr/>
          <p:nvPr/>
        </p:nvSpPr>
        <p:spPr>
          <a:xfrm>
            <a:off x="571500" y="1424136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11048999" y="9524"/>
                </a:moveTo>
                <a:lnTo>
                  <a:pt x="0" y="9524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9524"/>
                </a:lnTo>
                <a:close/>
              </a:path>
            </a:pathLst>
          </a:custGeom>
          <a:solidFill>
            <a:srgbClr val="DAFF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 descr="GitHub - peloyeje/map543-dijkstra-mapreduce-spark: [MAP543] Hadoop  Streaming (MapReduce) and Spark implementations of the Dijkstra shortest  path algorithm · GitHub">
            <a:extLst>
              <a:ext uri="{FF2B5EF4-FFF2-40B4-BE49-F238E27FC236}">
                <a16:creationId xmlns:a16="http://schemas.microsoft.com/office/drawing/2014/main" id="{33237214-7653-B67D-8709-8AAAB92DF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65" y="2514600"/>
            <a:ext cx="5257800" cy="32136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707605"/>
            <a:ext cx="5333999" cy="16382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85800" y="2133600"/>
            <a:ext cx="4911725" cy="2982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5095">
              <a:lnSpc>
                <a:spcPct val="150000"/>
              </a:lnSpc>
              <a:spcBef>
                <a:spcPts val="100"/>
              </a:spcBef>
            </a:pP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Instead</a:t>
            </a:r>
            <a:r>
              <a:rPr sz="2000" spc="-5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of</a:t>
            </a:r>
            <a:r>
              <a:rPr sz="2000" spc="-5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Linear</a:t>
            </a:r>
            <a:r>
              <a:rPr sz="2000" spc="-5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Search</a:t>
            </a:r>
            <a:r>
              <a:rPr sz="2000" spc="-5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O(n),</a:t>
            </a:r>
            <a:r>
              <a:rPr sz="2000" spc="-5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we</a:t>
            </a:r>
            <a:r>
              <a:rPr sz="2000" spc="-5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implement</a:t>
            </a:r>
            <a:r>
              <a:rPr sz="2000" spc="-4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Binary </a:t>
            </a:r>
            <a:r>
              <a:rPr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Search</a:t>
            </a:r>
            <a:r>
              <a:rPr sz="2000" b="1" spc="-7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O(log</a:t>
            </a:r>
            <a:r>
              <a:rPr sz="2000" spc="-7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n).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  <a:p>
            <a:pPr marL="891540" marR="5080" indent="-431165">
              <a:lnSpc>
                <a:spcPct val="150000"/>
              </a:lnSpc>
            </a:pPr>
            <a:r>
              <a:rPr sz="2000" spc="-4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Splitting</a:t>
            </a:r>
            <a:r>
              <a:rPr sz="2000" spc="-6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sorted</a:t>
            </a:r>
            <a:r>
              <a:rPr sz="2000" spc="-6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lists</a:t>
            </a:r>
            <a:r>
              <a:rPr sz="2000" spc="-6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significantly</a:t>
            </a:r>
            <a:r>
              <a:rPr sz="2000" spc="-6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improves</a:t>
            </a:r>
            <a:r>
              <a:rPr sz="2000" spc="-6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search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performance</a:t>
            </a:r>
            <a:r>
              <a:rPr sz="2000" spc="-8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during</a:t>
            </a:r>
            <a:r>
              <a:rPr sz="2000" spc="-8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train</a:t>
            </a:r>
            <a:r>
              <a:rPr sz="2000" spc="-8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identification.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Logarithmic</a:t>
            </a:r>
            <a:r>
              <a:rPr spc="-185" dirty="0"/>
              <a:t> </a:t>
            </a:r>
            <a:r>
              <a:rPr spc="-75" dirty="0"/>
              <a:t>Search:</a:t>
            </a:r>
            <a:r>
              <a:rPr spc="-170" dirty="0"/>
              <a:t> </a:t>
            </a:r>
            <a:r>
              <a:rPr spc="-10" dirty="0"/>
              <a:t>Binary</a:t>
            </a:r>
          </a:p>
        </p:txBody>
      </p:sp>
      <p:sp>
        <p:nvSpPr>
          <p:cNvPr id="7" name="object 7"/>
          <p:cNvSpPr/>
          <p:nvPr/>
        </p:nvSpPr>
        <p:spPr>
          <a:xfrm>
            <a:off x="571500" y="1424136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11048999" y="9524"/>
                </a:moveTo>
                <a:lnTo>
                  <a:pt x="0" y="9524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9524"/>
                </a:lnTo>
                <a:close/>
              </a:path>
            </a:pathLst>
          </a:custGeom>
          <a:solidFill>
            <a:srgbClr val="DAFF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BA8A7C-90C7-424C-1DB5-8A5FB70932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1" y="1973712"/>
            <a:ext cx="5486400" cy="33025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1500" y="2002631"/>
            <a:ext cx="5334000" cy="4000500"/>
            <a:chOff x="571500" y="2002631"/>
            <a:chExt cx="5334000" cy="4000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500" y="2002631"/>
              <a:ext cx="5333999" cy="40004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550" y="2021681"/>
              <a:ext cx="5295899" cy="39623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558800" y="2722594"/>
            <a:ext cx="11074400" cy="2244140"/>
          </a:xfrm>
          <a:prstGeom prst="rect">
            <a:avLst/>
          </a:prstGeom>
        </p:spPr>
        <p:txBody>
          <a:bodyPr vert="horz" wrap="square" lIns="0" tIns="538480" rIns="0" bIns="0" rtlCol="0">
            <a:spAutoFit/>
          </a:bodyPr>
          <a:lstStyle/>
          <a:p>
            <a:pPr marL="5727700">
              <a:lnSpc>
                <a:spcPct val="100000"/>
              </a:lnSpc>
              <a:spcBef>
                <a:spcPts val="1090"/>
              </a:spcBef>
            </a:pP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Standard</a:t>
            </a:r>
            <a:r>
              <a:rPr sz="2000" spc="-6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7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lists</a:t>
            </a:r>
            <a:r>
              <a:rPr sz="2000" spc="-5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are</a:t>
            </a:r>
            <a:r>
              <a:rPr sz="2000" spc="-5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O(n)</a:t>
            </a:r>
            <a:r>
              <a:rPr sz="2000" spc="-6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4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for</a:t>
            </a:r>
            <a:r>
              <a:rPr sz="2000" spc="-5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4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dequeuing.</a:t>
            </a:r>
            <a:r>
              <a:rPr sz="2000" spc="-6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4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We</a:t>
            </a:r>
            <a:r>
              <a:rPr sz="2000" spc="-5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2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use</a:t>
            </a:r>
          </a:p>
          <a:p>
            <a:pPr marL="5727700">
              <a:lnSpc>
                <a:spcPct val="100000"/>
              </a:lnSpc>
              <a:spcBef>
                <a:spcPts val="990"/>
              </a:spcBef>
            </a:pPr>
            <a:r>
              <a:rPr sz="2000" b="1" spc="-6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collections.deque </a:t>
            </a:r>
            <a:r>
              <a:rPr sz="2000" spc="-4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for</a:t>
            </a:r>
            <a:r>
              <a:rPr sz="2000" spc="-6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11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O(1)</a:t>
            </a:r>
            <a:r>
              <a:rPr sz="2000" spc="-6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operations.</a:t>
            </a:r>
          </a:p>
          <a:p>
            <a:pPr marL="5727700" marR="5080">
              <a:lnSpc>
                <a:spcPct val="150000"/>
              </a:lnSpc>
              <a:spcBef>
                <a:spcPts val="660"/>
              </a:spcBef>
            </a:pPr>
            <a:r>
              <a:rPr sz="2000" spc="-2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This</a:t>
            </a:r>
            <a:r>
              <a:rPr sz="2000" spc="-8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handles</a:t>
            </a:r>
            <a:r>
              <a:rPr sz="2000" spc="-7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3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FIFO</a:t>
            </a:r>
            <a:r>
              <a:rPr sz="2000" spc="-8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booking</a:t>
            </a:r>
            <a:r>
              <a:rPr sz="2000" spc="-7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2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requests</a:t>
            </a:r>
            <a:r>
              <a:rPr sz="2000" spc="-7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5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without</a:t>
            </a:r>
            <a:r>
              <a:rPr sz="2000" spc="-8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performance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degradation</a:t>
            </a:r>
            <a:r>
              <a:rPr sz="2000" spc="-7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6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as</a:t>
            </a:r>
            <a:r>
              <a:rPr sz="2000" spc="-7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5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waitlists</a:t>
            </a:r>
            <a:r>
              <a:rPr sz="2000" spc="-7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2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grow.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Waitlist</a:t>
            </a:r>
            <a:r>
              <a:rPr spc="-190" dirty="0"/>
              <a:t> </a:t>
            </a:r>
            <a:r>
              <a:rPr spc="-100" dirty="0"/>
              <a:t>Queuing:</a:t>
            </a:r>
            <a:r>
              <a:rPr spc="-190" dirty="0"/>
              <a:t> </a:t>
            </a:r>
            <a:r>
              <a:rPr spc="-20" dirty="0"/>
              <a:t>Deque</a:t>
            </a:r>
          </a:p>
        </p:txBody>
      </p:sp>
      <p:sp>
        <p:nvSpPr>
          <p:cNvPr id="7" name="object 7"/>
          <p:cNvSpPr/>
          <p:nvPr/>
        </p:nvSpPr>
        <p:spPr>
          <a:xfrm>
            <a:off x="571500" y="1424136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11048999" y="9524"/>
                </a:moveTo>
                <a:lnTo>
                  <a:pt x="0" y="9524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9524"/>
                </a:lnTo>
                <a:close/>
              </a:path>
            </a:pathLst>
          </a:custGeom>
          <a:solidFill>
            <a:srgbClr val="DAFFD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86500" y="2002631"/>
            <a:ext cx="5334000" cy="4000500"/>
            <a:chOff x="6286500" y="2002631"/>
            <a:chExt cx="5334000" cy="4000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6500" y="2002631"/>
              <a:ext cx="5333999" cy="40004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5550" y="2021681"/>
              <a:ext cx="5295899" cy="396239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09600" y="2438400"/>
            <a:ext cx="5099050" cy="1833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b="1" spc="-7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Priority </a:t>
            </a:r>
            <a:r>
              <a:rPr sz="2000" b="1" spc="-4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Queues</a:t>
            </a:r>
            <a:r>
              <a:rPr sz="2000" b="1" spc="-8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5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manage</a:t>
            </a:r>
            <a:r>
              <a:rPr sz="2000" spc="-7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seat</a:t>
            </a:r>
            <a:r>
              <a:rPr sz="2000" spc="-7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promotion</a:t>
            </a:r>
            <a:r>
              <a:rPr sz="2000" spc="-7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logic</a:t>
            </a:r>
            <a:r>
              <a:rPr sz="2000" spc="-7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for</a:t>
            </a:r>
            <a:r>
              <a:rPr sz="2000" spc="-7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senior citizens.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  <a:p>
            <a:pPr marL="431800" indent="-121920">
              <a:lnSpc>
                <a:spcPct val="100000"/>
              </a:lnSpc>
              <a:spcBef>
                <a:spcPts val="1650"/>
              </a:spcBef>
              <a:buFont typeface="Trebuchet MS"/>
              <a:buChar char="•"/>
              <a:tabLst>
                <a:tab pos="431800" algn="l"/>
              </a:tabLst>
            </a:pPr>
            <a:r>
              <a:rPr sz="2000" b="1" spc="-7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Priority</a:t>
            </a:r>
            <a:r>
              <a:rPr sz="2000" b="1" spc="-8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b="1" spc="-10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0:</a:t>
            </a:r>
            <a:r>
              <a:rPr sz="2000" b="1" spc="-8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High</a:t>
            </a:r>
            <a:r>
              <a:rPr sz="2000" spc="-8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Priority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(Seniors).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  <a:p>
            <a:pPr marL="431800" indent="-121920">
              <a:lnSpc>
                <a:spcPct val="100000"/>
              </a:lnSpc>
              <a:spcBef>
                <a:spcPts val="495"/>
              </a:spcBef>
              <a:buFont typeface="Trebuchet MS"/>
              <a:buChar char="•"/>
              <a:tabLst>
                <a:tab pos="431800" algn="l"/>
              </a:tabLst>
            </a:pPr>
            <a:r>
              <a:rPr sz="2000" b="1" spc="-7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Priority</a:t>
            </a:r>
            <a:r>
              <a:rPr sz="2000" b="1" spc="-8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b="1" spc="-33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1:</a:t>
            </a:r>
            <a:r>
              <a:rPr sz="2000" b="1" spc="-8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Standard.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Priority</a:t>
            </a:r>
            <a:r>
              <a:rPr spc="-180" dirty="0"/>
              <a:t> </a:t>
            </a:r>
            <a:r>
              <a:rPr spc="-70" dirty="0"/>
              <a:t>Scheduling:</a:t>
            </a:r>
            <a:r>
              <a:rPr spc="-180" dirty="0"/>
              <a:t> </a:t>
            </a:r>
            <a:r>
              <a:rPr spc="-20" dirty="0"/>
              <a:t>Heap</a:t>
            </a:r>
          </a:p>
        </p:txBody>
      </p:sp>
      <p:sp>
        <p:nvSpPr>
          <p:cNvPr id="7" name="object 7"/>
          <p:cNvSpPr/>
          <p:nvPr/>
        </p:nvSpPr>
        <p:spPr>
          <a:xfrm>
            <a:off x="571500" y="1424136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11048999" y="9524"/>
                </a:moveTo>
                <a:lnTo>
                  <a:pt x="0" y="9524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9524"/>
                </a:lnTo>
                <a:close/>
              </a:path>
            </a:pathLst>
          </a:custGeom>
          <a:solidFill>
            <a:srgbClr val="DAFFD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1500" y="2002631"/>
            <a:ext cx="5334000" cy="4000500"/>
            <a:chOff x="571500" y="2002631"/>
            <a:chExt cx="5334000" cy="4000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500" y="2002631"/>
              <a:ext cx="5333999" cy="40004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550" y="2021681"/>
              <a:ext cx="5295899" cy="39623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800" y="2590800"/>
            <a:ext cx="11074400" cy="2641684"/>
          </a:xfrm>
          <a:prstGeom prst="rect">
            <a:avLst/>
          </a:prstGeom>
        </p:spPr>
        <p:txBody>
          <a:bodyPr vert="horz" wrap="square" lIns="0" tIns="538479" rIns="0" bIns="0" rtlCol="0">
            <a:spAutoFit/>
          </a:bodyPr>
          <a:lstStyle/>
          <a:p>
            <a:pPr marL="5727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Sets</a:t>
            </a:r>
            <a:r>
              <a:rPr sz="2000" b="1" spc="-8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handle</a:t>
            </a:r>
            <a:r>
              <a:rPr sz="2000" spc="-8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membership</a:t>
            </a:r>
            <a:r>
              <a:rPr sz="2000" spc="-8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checks</a:t>
            </a:r>
            <a:r>
              <a:rPr sz="2000" spc="-8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</a:t>
            </a:r>
            <a:r>
              <a:rPr sz="2000" spc="-7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11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O(1)</a:t>
            </a:r>
            <a:r>
              <a:rPr sz="2000" spc="-8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4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for</a:t>
            </a:r>
            <a:r>
              <a:rPr sz="2000" spc="-8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5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visited</a:t>
            </a:r>
            <a:r>
              <a:rPr sz="2000" spc="-8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nodes.</a:t>
            </a:r>
          </a:p>
          <a:p>
            <a:pPr marL="5727700" marR="403225">
              <a:lnSpc>
                <a:spcPct val="150000"/>
              </a:lnSpc>
              <a:spcBef>
                <a:spcPts val="1155"/>
              </a:spcBef>
            </a:pPr>
            <a:r>
              <a:rPr sz="2000" b="1" spc="-3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OrderedDict </a:t>
            </a:r>
            <a:r>
              <a:rPr sz="2000" spc="-2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ensures</a:t>
            </a:r>
            <a:r>
              <a:rPr sz="2000" spc="-2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3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that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passenger</a:t>
            </a:r>
            <a:r>
              <a:rPr sz="2000" spc="-2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summaries</a:t>
            </a:r>
            <a:r>
              <a:rPr sz="2000" spc="-3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2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are </a:t>
            </a:r>
            <a:r>
              <a:rPr sz="2000" spc="-2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stored</a:t>
            </a:r>
            <a:r>
              <a:rPr sz="2000" spc="-7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and</a:t>
            </a:r>
            <a:r>
              <a:rPr sz="2000" spc="-7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displayed</a:t>
            </a:r>
            <a:r>
              <a:rPr sz="2000" spc="-7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</a:t>
            </a:r>
            <a:r>
              <a:rPr sz="2000" spc="-6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55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insertion</a:t>
            </a:r>
            <a:r>
              <a:rPr sz="2000" spc="-7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2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order</a:t>
            </a:r>
            <a:r>
              <a:rPr sz="2000" spc="-7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4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for</a:t>
            </a:r>
            <a:r>
              <a:rPr sz="2000" spc="-7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receipt generation.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Data</a:t>
            </a:r>
            <a:r>
              <a:rPr spc="-165" dirty="0"/>
              <a:t> </a:t>
            </a:r>
            <a:r>
              <a:rPr spc="-105" dirty="0"/>
              <a:t>Integrity:</a:t>
            </a:r>
            <a:r>
              <a:rPr spc="-160" dirty="0"/>
              <a:t> </a:t>
            </a:r>
            <a:r>
              <a:rPr dirty="0"/>
              <a:t>Set</a:t>
            </a:r>
            <a:r>
              <a:rPr spc="-160" dirty="0"/>
              <a:t> </a:t>
            </a:r>
            <a:r>
              <a:rPr dirty="0"/>
              <a:t>&amp;</a:t>
            </a:r>
            <a:r>
              <a:rPr spc="-160" dirty="0"/>
              <a:t> </a:t>
            </a:r>
            <a:r>
              <a:rPr spc="-45" dirty="0"/>
              <a:t>OrderedDict</a:t>
            </a:r>
          </a:p>
        </p:txBody>
      </p:sp>
      <p:sp>
        <p:nvSpPr>
          <p:cNvPr id="7" name="object 7"/>
          <p:cNvSpPr/>
          <p:nvPr/>
        </p:nvSpPr>
        <p:spPr>
          <a:xfrm>
            <a:off x="571500" y="1424136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11048999" y="9524"/>
                </a:moveTo>
                <a:lnTo>
                  <a:pt x="0" y="9524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9524"/>
                </a:lnTo>
                <a:close/>
              </a:path>
            </a:pathLst>
          </a:custGeom>
          <a:solidFill>
            <a:srgbClr val="DAFFD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4374801"/>
            <a:ext cx="11048999" cy="9334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40395" y="1988502"/>
            <a:ext cx="771207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/>
              <a:t>System</a:t>
            </a:r>
            <a:r>
              <a:rPr sz="4500" spc="-220" dirty="0"/>
              <a:t> </a:t>
            </a:r>
            <a:r>
              <a:rPr sz="4500" spc="-80" dirty="0"/>
              <a:t>Integrity</a:t>
            </a:r>
            <a:r>
              <a:rPr sz="4500" spc="-220" dirty="0"/>
              <a:t> </a:t>
            </a:r>
            <a:r>
              <a:rPr sz="4500" dirty="0"/>
              <a:t>&amp;</a:t>
            </a:r>
            <a:r>
              <a:rPr sz="4500" spc="-220" dirty="0"/>
              <a:t> </a:t>
            </a:r>
            <a:r>
              <a:rPr sz="4500" spc="-95" dirty="0"/>
              <a:t>Conclusion</a:t>
            </a:r>
            <a:endParaRPr sz="4500"/>
          </a:p>
        </p:txBody>
      </p:sp>
      <p:sp>
        <p:nvSpPr>
          <p:cNvPr id="4" name="object 4"/>
          <p:cNvSpPr txBox="1"/>
          <p:nvPr/>
        </p:nvSpPr>
        <p:spPr>
          <a:xfrm>
            <a:off x="2964014" y="3353594"/>
            <a:ext cx="626427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Our</a:t>
            </a:r>
            <a:r>
              <a:rPr sz="2000" spc="-4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implementation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balances</a:t>
            </a:r>
            <a:r>
              <a:rPr sz="2000" spc="-4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time-efficiency</a:t>
            </a:r>
            <a:r>
              <a:rPr sz="2000" spc="-3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with</a:t>
            </a:r>
            <a:r>
              <a:rPr sz="2000" spc="-4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data</a:t>
            </a:r>
            <a:r>
              <a:rPr sz="2000" spc="-35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accent5">
                    <a:lumMod val="40000"/>
                    <a:lumOff val="60000"/>
                  </a:schemeClr>
                </a:solidFill>
                <a:latin typeface="Trebuchet MS"/>
                <a:cs typeface="Trebuchet MS"/>
              </a:rPr>
              <a:t>correctness.</a:t>
            </a:r>
            <a:endParaRPr sz="2000">
              <a:solidFill>
                <a:schemeClr val="accent5">
                  <a:lumMod val="40000"/>
                  <a:lumOff val="60000"/>
                </a:schemeClr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303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Smart Railway Management System</vt:lpstr>
      <vt:lpstr>The Foundation: Smart Railways</vt:lpstr>
      <vt:lpstr>Key-Value Optimization</vt:lpstr>
      <vt:lpstr>Linear Processing &amp; Accumulation</vt:lpstr>
      <vt:lpstr>Routing Logic: Dijkstra</vt:lpstr>
      <vt:lpstr>Logarithmic Search: Binary</vt:lpstr>
      <vt:lpstr>Waitlist Queuing: Deque</vt:lpstr>
      <vt:lpstr>Priority Scheduling: Heap</vt:lpstr>
      <vt:lpstr>Data Integrity: Set &amp; OrderedDict</vt:lpstr>
      <vt:lpstr>System Integrity &amp;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005_AXITKANDWAL</dc:title>
  <cp:lastModifiedBy>Axit K</cp:lastModifiedBy>
  <cp:revision>2</cp:revision>
  <dcterms:created xsi:type="dcterms:W3CDTF">2026-05-07T01:21:26Z</dcterms:created>
  <dcterms:modified xsi:type="dcterms:W3CDTF">2026-05-07T02:07:34Z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2026-05-07T00:00:00Z</vt:filetime>
  </property>
  <property fmtid="{D5CDD505-2E9C-101B-9397-08002B2CF9AE}" pid="3" name="Creator">
    <vt:lpwstr>Google</vt:lpwstr>
  </property>
  <property fmtid="{D5CDD505-2E9C-101B-9397-08002B2CF9AE}" pid="4" name="LastSaved">
    <vt:filetime>2026-05-07T00:00:00Z</vt:filetime>
  </property>
</Properties>
</file>