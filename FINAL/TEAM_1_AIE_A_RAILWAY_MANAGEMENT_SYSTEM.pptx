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73" r:id="rId4"/>
    <p:sldId id="274" r:id="rId5"/>
    <p:sldId id="271" r:id="rId6"/>
    <p:sldId id="275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2" r:id="rId20"/>
    <p:sldId id="270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D1B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9E3C9D4-3397-460D-9973-A0E10637EF5B}" v="41" dt="2026-05-06T19:29:24.70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-81" y="17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29842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2780B5-3029-0AAF-62B4-8264DB7E69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97870C-AC21-AF48-70EB-D0B8787A71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596181-71B0-9D89-8F73-C01CC11629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4B4321-9D1B-FAC3-E1AA-F097EAC0F9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7941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35108" y="0"/>
            <a:ext cx="164592" cy="5143500"/>
          </a:xfrm>
          <a:prstGeom prst="rect">
            <a:avLst/>
          </a:prstGeom>
          <a:solidFill>
            <a:srgbClr val="002060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99700" y="0"/>
            <a:ext cx="1744300" cy="5127476"/>
          </a:xfrm>
          <a:prstGeom prst="rect">
            <a:avLst/>
          </a:prstGeom>
          <a:solidFill>
            <a:srgbClr val="1B6CA8">
              <a:alpha val="25000"/>
            </a:srgbClr>
          </a:solidFill>
          <a:ln w="12700">
            <a:solidFill>
              <a:srgbClr val="1B6CA8">
                <a:alpha val="2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3893" y="338434"/>
            <a:ext cx="59388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SMART RAILWAY SYSTEM</a:t>
            </a:r>
            <a:endParaRPr lang="en-US" sz="3400" dirty="0"/>
          </a:p>
        </p:txBody>
      </p:sp>
      <p:pic>
        <p:nvPicPr>
          <p:cNvPr id="10" name="Picture 9" descr="SnappyVinyl 20 cm Bullet Train Self Adhesive Sticker Price in India - Buy  SnappyVinyl 20 cm Bullet Train Self Adhesive Sticker online at Flipkart.com">
            <a:extLst>
              <a:ext uri="{FF2B5EF4-FFF2-40B4-BE49-F238E27FC236}">
                <a16:creationId xmlns:a16="http://schemas.microsoft.com/office/drawing/2014/main" id="{63524919-E048-7B04-1633-B8C15B6711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8301" y="367546"/>
            <a:ext cx="1305016" cy="673296"/>
          </a:xfrm>
          <a:prstGeom prst="rect">
            <a:avLst/>
          </a:prstGeom>
          <a:ln w="38100">
            <a:solidFill>
              <a:schemeClr val="accent5">
                <a:lumMod val="60000"/>
                <a:lumOff val="40000"/>
              </a:schemeClr>
            </a:solidFill>
          </a:ln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93E5A18-0E8E-8A2A-B295-146AD261AAA0}"/>
              </a:ext>
            </a:extLst>
          </p:cNvPr>
          <p:cNvSpPr/>
          <p:nvPr/>
        </p:nvSpPr>
        <p:spPr>
          <a:xfrm>
            <a:off x="581910" y="1588170"/>
            <a:ext cx="5551438" cy="950828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6DCCA35-A876-B434-5B57-F98EF567D6D9}"/>
              </a:ext>
            </a:extLst>
          </p:cNvPr>
          <p:cNvSpPr txBox="1"/>
          <p:nvPr/>
        </p:nvSpPr>
        <p:spPr>
          <a:xfrm>
            <a:off x="739254" y="1713720"/>
            <a:ext cx="54427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Course : </a:t>
            </a:r>
            <a:r>
              <a:rPr lang="en-IN" sz="12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IN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 Interference Design &amp; Data Structures and Analysis</a:t>
            </a:r>
          </a:p>
          <a:p>
            <a:r>
              <a:rPr lang="en-IN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Coding Languages Used: </a:t>
            </a:r>
            <a:r>
              <a:rPr lang="en-IN" sz="12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IN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Python, HTML, CSS, JavaScript</a:t>
            </a:r>
          </a:p>
          <a:p>
            <a:r>
              <a:rPr lang="en-IN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Institution : </a:t>
            </a:r>
            <a:r>
              <a:rPr lang="en-IN" sz="12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			</a:t>
            </a:r>
            <a:r>
              <a:rPr lang="en-IN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Amrita Vishwa Vidyapeetham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954088E-8F68-761C-2397-8ED56F28B714}"/>
              </a:ext>
            </a:extLst>
          </p:cNvPr>
          <p:cNvSpPr/>
          <p:nvPr/>
        </p:nvSpPr>
        <p:spPr>
          <a:xfrm>
            <a:off x="1047009" y="3016090"/>
            <a:ext cx="4767313" cy="1704567"/>
          </a:xfrm>
          <a:prstGeom prst="round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8DED5C0-8080-CA8F-664A-7475C155E5C7}"/>
              </a:ext>
            </a:extLst>
          </p:cNvPr>
          <p:cNvSpPr/>
          <p:nvPr/>
        </p:nvSpPr>
        <p:spPr>
          <a:xfrm>
            <a:off x="912346" y="2923311"/>
            <a:ext cx="4764160" cy="1656754"/>
          </a:xfrm>
          <a:prstGeom prst="roundRect">
            <a:avLst/>
          </a:prstGeom>
          <a:solidFill>
            <a:schemeClr val="tx2">
              <a:lumMod val="5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0144378-C903-0348-5C33-85DB91ED144B}"/>
              </a:ext>
            </a:extLst>
          </p:cNvPr>
          <p:cNvSpPr txBox="1"/>
          <p:nvPr/>
        </p:nvSpPr>
        <p:spPr>
          <a:xfrm>
            <a:off x="965131" y="3479116"/>
            <a:ext cx="457532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chemeClr val="bg1"/>
                </a:solidFill>
                <a:cs typeface="Aparajita" panose="02020603050405020304" pitchFamily="18" charset="0"/>
              </a:rPr>
              <a:t>Team Members</a:t>
            </a:r>
            <a:r>
              <a:rPr lang="en-IN" sz="1200" dirty="0">
                <a:solidFill>
                  <a:schemeClr val="bg1"/>
                </a:solidFill>
              </a:rPr>
              <a:t>:</a:t>
            </a:r>
          </a:p>
          <a:p>
            <a:r>
              <a:rPr lang="en-IN" sz="1200" dirty="0">
                <a:solidFill>
                  <a:schemeClr val="bg1">
                    <a:lumMod val="75000"/>
                  </a:schemeClr>
                </a:solidFill>
              </a:rPr>
              <a:t>ABDUL JABBAR M 		(CB.SC.U4AIE25001)</a:t>
            </a:r>
          </a:p>
          <a:p>
            <a:r>
              <a:rPr lang="en-IN" sz="1200" dirty="0">
                <a:solidFill>
                  <a:schemeClr val="bg1">
                    <a:lumMod val="75000"/>
                  </a:schemeClr>
                </a:solidFill>
              </a:rPr>
              <a:t>AXIT KANDWAL 		(CB.SC.U4AIE25005)</a:t>
            </a:r>
          </a:p>
          <a:p>
            <a:r>
              <a:rPr lang="en-IN" sz="1200" dirty="0">
                <a:solidFill>
                  <a:schemeClr val="bg1">
                    <a:lumMod val="75000"/>
                  </a:schemeClr>
                </a:solidFill>
              </a:rPr>
              <a:t>M. ASHWIN KUMAR		(CB.SC.U4AIE25025)</a:t>
            </a:r>
          </a:p>
          <a:p>
            <a:r>
              <a:rPr lang="en-IN" sz="1200" dirty="0">
                <a:solidFill>
                  <a:schemeClr val="bg1">
                    <a:lumMod val="75000"/>
                  </a:schemeClr>
                </a:solidFill>
              </a:rPr>
              <a:t>RITESH KUMAR 		(CB.SC.U4AIE25043)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B0F4A35-BF76-D0E9-8E0D-D7C7ADFADCBD}"/>
              </a:ext>
            </a:extLst>
          </p:cNvPr>
          <p:cNvCxnSpPr>
            <a:cxnSpLocks/>
          </p:cNvCxnSpPr>
          <p:nvPr/>
        </p:nvCxnSpPr>
        <p:spPr>
          <a:xfrm>
            <a:off x="912346" y="3422409"/>
            <a:ext cx="4764160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3EC8815B-0299-0AF2-57FB-097FA073536A}"/>
              </a:ext>
            </a:extLst>
          </p:cNvPr>
          <p:cNvSpPr txBox="1"/>
          <p:nvPr/>
        </p:nvSpPr>
        <p:spPr>
          <a:xfrm>
            <a:off x="1140218" y="3049720"/>
            <a:ext cx="4400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bg1">
                    <a:lumMod val="75000"/>
                  </a:schemeClr>
                </a:solidFill>
                <a:latin typeface="Algerian" panose="04020705040A02060702" pitchFamily="82" charset="0"/>
              </a:rPr>
              <a:t>TEAM-1</a:t>
            </a:r>
            <a:endParaRPr lang="en-IN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5F2EAB0C-06AB-6F78-AFA3-8C218AC570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1491" y="480482"/>
            <a:ext cx="898907" cy="898907"/>
          </a:xfrm>
          <a:prstGeom prst="rect">
            <a:avLst/>
          </a:prstGeom>
          <a:ln w="38100">
            <a:solidFill>
              <a:schemeClr val="accent5"/>
            </a:solidFill>
          </a:ln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BFC4F7D2-B00D-78B6-9DEA-BE3B0EEFFC32}"/>
              </a:ext>
            </a:extLst>
          </p:cNvPr>
          <p:cNvSpPr txBox="1"/>
          <p:nvPr/>
        </p:nvSpPr>
        <p:spPr>
          <a:xfrm>
            <a:off x="7762111" y="849386"/>
            <a:ext cx="1107996" cy="302133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IN" sz="6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	IRCTC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bg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Motivation</a:t>
            </a:r>
            <a:endParaRPr lang="en-US" sz="3000" dirty="0">
              <a:solidFill>
                <a:schemeClr val="bg2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937070" y="1005842"/>
            <a:ext cx="6961476" cy="3703320"/>
          </a:xfrm>
          <a:prstGeom prst="rect">
            <a:avLst/>
          </a:prstGeom>
          <a:solidFill>
            <a:schemeClr val="bg2">
              <a:lumMod val="25000"/>
            </a:schemeClr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 rot="5400000">
            <a:off x="5951335" y="2785724"/>
            <a:ext cx="3703321" cy="14356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6798" y="111557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46797" y="1627634"/>
            <a:ext cx="6453163" cy="2971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2"/>
                </a:solidFill>
              </a:rPr>
              <a:t>Traditional reservation workflows are difficult to manage when seat availability, route search, waiting list updates, and cancellations must all be handled efficiently in one system.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bg2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2"/>
                </a:solidFill>
              </a:rPr>
              <a:t>Many simple systems do not optimize route selection, do not prioritize waiting passengers intelligently, and cause repeated data lookup overhead.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bg2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2"/>
                </a:solidFill>
              </a:rPr>
              <a:t>There is a need for a railway reservation system that supports user and admin operations while applying appropriate data structures and algorithms for speed, fairness, and correctness.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bg2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2"/>
                </a:solidFill>
              </a:rPr>
              <a:t>Our project addresses this by building a web-based Railway Reservation System using Python, Flask, and MySQL with Dijkstra’s algorithm, binary search, queue/deque, priority queue, and hash-based caching</a:t>
            </a:r>
          </a:p>
        </p:txBody>
      </p:sp>
      <p:pic>
        <p:nvPicPr>
          <p:cNvPr id="15" name="Picture 14" descr="SnappyVinyl 20 cm Bullet Train Self Adhesive Sticker Price in India - Buy  SnappyVinyl 20 cm Bullet Train Self Adhesive Sticker online at Flipkart.com">
            <a:extLst>
              <a:ext uri="{FF2B5EF4-FFF2-40B4-BE49-F238E27FC236}">
                <a16:creationId xmlns:a16="http://schemas.microsoft.com/office/drawing/2014/main" id="{870785EC-3542-CF76-8C91-523B9D26C8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8326" y="1132902"/>
            <a:ext cx="2546645" cy="68759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F5E1774-C4DE-92A9-A3CD-7B296AE4B313}"/>
              </a:ext>
            </a:extLst>
          </p:cNvPr>
          <p:cNvSpPr/>
          <p:nvPr/>
        </p:nvSpPr>
        <p:spPr>
          <a:xfrm>
            <a:off x="374515" y="1181911"/>
            <a:ext cx="7889132" cy="3570051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D5B1A3A-1E35-48F9-84DD-EC85B45B693E}"/>
              </a:ext>
            </a:extLst>
          </p:cNvPr>
          <p:cNvSpPr txBox="1"/>
          <p:nvPr/>
        </p:nvSpPr>
        <p:spPr>
          <a:xfrm>
            <a:off x="374515" y="316149"/>
            <a:ext cx="609924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000" dirty="0">
                <a:solidFill>
                  <a:schemeClr val="accent1">
                    <a:lumMod val="40000"/>
                    <a:lumOff val="60000"/>
                  </a:schemeClr>
                </a:solidFill>
                <a:latin typeface="Trebuchet MS" panose="020B0603020202020204" pitchFamily="34" charset="0"/>
              </a:rPr>
              <a:t>Problem Statement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93397E-C917-D12B-E525-80F4EC640D6B}"/>
              </a:ext>
            </a:extLst>
          </p:cNvPr>
          <p:cNvSpPr txBox="1"/>
          <p:nvPr/>
        </p:nvSpPr>
        <p:spPr>
          <a:xfrm>
            <a:off x="598251" y="1410511"/>
            <a:ext cx="745625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</a:rPr>
              <a:t>Traditional railway reservation systems are hard to manage because seat availability, route search, waiting list updates, and cancellations must all work smoothly together.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</a:rPr>
              <a:t>Many basic systems also lack intelligent route selection, priority handling, and fast data access.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</a:rPr>
              <a:t>Our project solves this with a web-based system using Python, Flask, MySQL, and efficient DSA methods like Dijkstra’s algorithm, binary search, deque, priority queue, and hash caching.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30006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D3D58C1-B2C6-17D2-2880-72D52068FAA2}"/>
              </a:ext>
            </a:extLst>
          </p:cNvPr>
          <p:cNvSpPr txBox="1"/>
          <p:nvPr/>
        </p:nvSpPr>
        <p:spPr>
          <a:xfrm>
            <a:off x="374515" y="316149"/>
            <a:ext cx="609924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000" dirty="0">
                <a:solidFill>
                  <a:schemeClr val="accent1">
                    <a:lumMod val="40000"/>
                    <a:lumOff val="60000"/>
                  </a:schemeClr>
                </a:solidFill>
                <a:latin typeface="Trebuchet MS" panose="020B0603020202020204" pitchFamily="34" charset="0"/>
              </a:rPr>
              <a:t>Objectives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D730B5-6C9D-C068-BFC0-70FA4F4800ED}"/>
              </a:ext>
            </a:extLst>
          </p:cNvPr>
          <p:cNvSpPr txBox="1"/>
          <p:nvPr/>
        </p:nvSpPr>
        <p:spPr>
          <a:xfrm>
            <a:off x="710119" y="1181909"/>
            <a:ext cx="7723762" cy="353943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8100">
            <a:solidFill>
              <a:schemeClr val="accent6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chemeClr val="accent6">
                    <a:lumMod val="75000"/>
                  </a:schemeClr>
                </a:solidFill>
              </a:rPr>
              <a:t>To design and implement a functional railway reservation system with separate user and admin features.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1400" dirty="0">
              <a:solidFill>
                <a:schemeClr val="accent6">
                  <a:lumMod val="75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chemeClr val="accent6">
                    <a:lumMod val="75000"/>
                  </a:schemeClr>
                </a:solidFill>
              </a:rPr>
              <a:t>To support core operations such as registration, login, train search, seat booking, PNR lookup, cancellation, and train running status.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1400" dirty="0">
              <a:solidFill>
                <a:schemeClr val="accent6">
                  <a:lumMod val="75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chemeClr val="accent6">
                    <a:lumMod val="75000"/>
                  </a:schemeClr>
                </a:solidFill>
              </a:rPr>
              <a:t>To apply DSA concepts in real scenarios, including Dijkstra’s algorithm for cheapest-route finding, binary search for train lookup, deque for FIFO waiting lists, and heap-based priority queues for senior-citizen preference.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1400" dirty="0">
              <a:solidFill>
                <a:schemeClr val="accent6">
                  <a:lumMod val="75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chemeClr val="accent6">
                    <a:lumMod val="75000"/>
                  </a:schemeClr>
                </a:solidFill>
              </a:rPr>
              <a:t>To maintain structured and scalable backend data handling using dictionaries, arrays/lists, </a:t>
            </a:r>
            <a:r>
              <a:rPr lang="en-US" sz="1400" dirty="0" err="1">
                <a:solidFill>
                  <a:schemeClr val="accent6">
                    <a:lumMod val="75000"/>
                  </a:schemeClr>
                </a:solidFill>
              </a:rPr>
              <a:t>OrderedDict</a:t>
            </a:r>
            <a:r>
              <a:rPr lang="en-US" sz="1400" dirty="0">
                <a:solidFill>
                  <a:schemeClr val="accent6">
                    <a:lumMod val="75000"/>
                  </a:schemeClr>
                </a:solidFill>
              </a:rPr>
              <a:t>, and MySQL tables.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1400" dirty="0">
              <a:solidFill>
                <a:schemeClr val="accent6">
                  <a:lumMod val="75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chemeClr val="accent6">
                    <a:lumMod val="75000"/>
                  </a:schemeClr>
                </a:solidFill>
              </a:rPr>
              <a:t>To analyze the time complexity and practical usefulness of each chosen data structure in the reservation workflow.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IN" sz="1400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68002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2F1FB9-9606-9EF0-2B95-A70E2F30BD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BF5EAEB-DF30-4500-C566-71EFCA256BED}"/>
              </a:ext>
            </a:extLst>
          </p:cNvPr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bg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Overview</a:t>
            </a:r>
            <a:endParaRPr lang="en-US" sz="3000" dirty="0">
              <a:solidFill>
                <a:schemeClr val="bg2"/>
              </a:solidFill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5385CAD-82E9-EE7F-A404-2D6EA1A88E2E}"/>
              </a:ext>
            </a:extLst>
          </p:cNvPr>
          <p:cNvSpPr/>
          <p:nvPr/>
        </p:nvSpPr>
        <p:spPr>
          <a:xfrm>
            <a:off x="256032" y="1005840"/>
            <a:ext cx="2468880" cy="302209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03A43E1-F29F-8E1E-2EB1-D6AD99513E68}"/>
              </a:ext>
            </a:extLst>
          </p:cNvPr>
          <p:cNvSpPr/>
          <p:nvPr/>
        </p:nvSpPr>
        <p:spPr>
          <a:xfrm>
            <a:off x="256032" y="1005840"/>
            <a:ext cx="2468880" cy="6400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F2230E3-AD2D-2DF3-2F48-87EAA6B94E19}"/>
              </a:ext>
            </a:extLst>
          </p:cNvPr>
          <p:cNvSpPr/>
          <p:nvPr/>
        </p:nvSpPr>
        <p:spPr>
          <a:xfrm>
            <a:off x="365760" y="111556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🚆  Core Features</a:t>
            </a:r>
            <a:endParaRPr lang="en-US" sz="13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076E2C7-4017-D251-6A75-37E2B643C885}"/>
              </a:ext>
            </a:extLst>
          </p:cNvPr>
          <p:cNvSpPr/>
          <p:nvPr/>
        </p:nvSpPr>
        <p:spPr>
          <a:xfrm>
            <a:off x="365760" y="1572768"/>
            <a:ext cx="2197478" cy="2510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Registration &amp; Login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Search (General &amp; Tatkal)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 Booking &amp; Ticket Generation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Cancellation with Refund Logic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PNR Status Lookup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Running Status</a:t>
            </a:r>
            <a:endParaRPr lang="en-US" sz="11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633A09D6-18C8-6E0C-FD8C-116D357486F5}"/>
              </a:ext>
            </a:extLst>
          </p:cNvPr>
          <p:cNvSpPr/>
          <p:nvPr/>
        </p:nvSpPr>
        <p:spPr>
          <a:xfrm>
            <a:off x="3200400" y="1005840"/>
            <a:ext cx="2388140" cy="302209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EAC6B0F3-FD33-3025-F3C1-18CA61F477D8}"/>
              </a:ext>
            </a:extLst>
          </p:cNvPr>
          <p:cNvSpPr/>
          <p:nvPr/>
        </p:nvSpPr>
        <p:spPr>
          <a:xfrm>
            <a:off x="3200400" y="1005840"/>
            <a:ext cx="2388140" cy="6400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13444EB7-0E81-69E9-20DE-97F823C6667C}"/>
              </a:ext>
            </a:extLst>
          </p:cNvPr>
          <p:cNvSpPr/>
          <p:nvPr/>
        </p:nvSpPr>
        <p:spPr>
          <a:xfrm>
            <a:off x="3310128" y="111556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🛠️  Admin Features</a:t>
            </a:r>
            <a:endParaRPr lang="en-US" sz="13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72DCAEB2-AC82-55DE-5D8A-9A4C0A3CD80B}"/>
              </a:ext>
            </a:extLst>
          </p:cNvPr>
          <p:cNvSpPr/>
          <p:nvPr/>
        </p:nvSpPr>
        <p:spPr>
          <a:xfrm>
            <a:off x="3310128" y="1627632"/>
            <a:ext cx="1923353" cy="21710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Login Panel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General Tickets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Tatkal Tickets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Train Schedules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Day-wise Train Availability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 Availability Control</a:t>
            </a:r>
            <a:endParaRPr lang="en-US" sz="11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2A8761FA-631C-82B5-08FF-D6AD7D2BE279}"/>
              </a:ext>
            </a:extLst>
          </p:cNvPr>
          <p:cNvSpPr/>
          <p:nvPr/>
        </p:nvSpPr>
        <p:spPr>
          <a:xfrm>
            <a:off x="6144768" y="1005840"/>
            <a:ext cx="2468880" cy="302209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0FA69ADB-8EE8-D9CE-48B2-EA2FB5ED9423}"/>
              </a:ext>
            </a:extLst>
          </p:cNvPr>
          <p:cNvSpPr/>
          <p:nvPr/>
        </p:nvSpPr>
        <p:spPr>
          <a:xfrm>
            <a:off x="6144768" y="1005840"/>
            <a:ext cx="2468880" cy="6400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BA36D4D3-5E38-B9E9-B565-AAFFFDEDDA3D}"/>
              </a:ext>
            </a:extLst>
          </p:cNvPr>
          <p:cNvSpPr/>
          <p:nvPr/>
        </p:nvSpPr>
        <p:spPr>
          <a:xfrm>
            <a:off x="6254496" y="111556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🧠  Smart Features</a:t>
            </a:r>
            <a:endParaRPr lang="en-US" sz="13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34D2A192-3FD9-2CAF-C1C6-3114B67D3A96}"/>
              </a:ext>
            </a:extLst>
          </p:cNvPr>
          <p:cNvSpPr/>
          <p:nvPr/>
        </p:nvSpPr>
        <p:spPr>
          <a:xfrm>
            <a:off x="6254496" y="1627632"/>
            <a:ext cx="2135610" cy="234611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Cheapest Route Finder (Dijkstra)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Waiting List (Senior Citizens)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FIFO Waiting Queue (Deque)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Search for Train Lookup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Caching (Dictionary)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Booking Confirmation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5119208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5E13EC5-684A-08E6-C2AD-87EFC0D8B7AA}"/>
              </a:ext>
            </a:extLst>
          </p:cNvPr>
          <p:cNvSpPr txBox="1"/>
          <p:nvPr/>
        </p:nvSpPr>
        <p:spPr>
          <a:xfrm>
            <a:off x="374515" y="316149"/>
            <a:ext cx="609924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000" dirty="0">
                <a:solidFill>
                  <a:schemeClr val="accent1">
                    <a:lumMod val="40000"/>
                    <a:lumOff val="60000"/>
                  </a:schemeClr>
                </a:solidFill>
                <a:latin typeface="Trebuchet MS" panose="020B0603020202020204" pitchFamily="34" charset="0"/>
              </a:rPr>
              <a:t>Methodology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A3A389-32F9-E5C9-A865-99550685153D}"/>
              </a:ext>
            </a:extLst>
          </p:cNvPr>
          <p:cNvSpPr txBox="1"/>
          <p:nvPr/>
        </p:nvSpPr>
        <p:spPr>
          <a:xfrm>
            <a:off x="325877" y="1094362"/>
            <a:ext cx="8224736" cy="357020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8100">
            <a:solidFill>
              <a:schemeClr val="accent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The system is developed as a Flask-based web application where the frontend uses HTML/Jinja2 templates and the backend handles booking logic, route computation, session management, and database operations</a:t>
            </a:r>
          </a:p>
          <a:p>
            <a:r>
              <a:rPr lang="en-US" sz="14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MySQL stores persistent data such as users, trains, routes, seat availability, fare tables, passenger details, tickets, and admin records.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Dictionaries are used for fast lookups and caching, lists are used for passenger and route-related processing, deque manages FIFO waiting passengers, and </a:t>
            </a:r>
            <a:r>
              <a:rPr lang="en-US" sz="1400" dirty="0" err="1"/>
              <a:t>heapq</a:t>
            </a:r>
            <a:r>
              <a:rPr lang="en-US" sz="1400" dirty="0"/>
              <a:t> implements both Dijkstra’s min-heap and priority waiting-list handling.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During booking, the system validates the user session, searches trains, checks seat availability, calculates fare, inserts passenger records, and generates confirmation details.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During cancellation, the system updates ticket status, restores seat availability, and promotes the next eligible waiting passenger using queue or priority logic.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15809858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bg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Architecture</a:t>
            </a:r>
            <a:endParaRPr lang="en-US" sz="3000" dirty="0">
              <a:solidFill>
                <a:schemeClr val="bg2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1280160" y="1097280"/>
            <a:ext cx="6583680" cy="749808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/>
        </p:spPr>
      </p:sp>
      <p:sp>
        <p:nvSpPr>
          <p:cNvPr id="4" name="Text 2"/>
          <p:cNvSpPr/>
          <p:nvPr/>
        </p:nvSpPr>
        <p:spPr>
          <a:xfrm>
            <a:off x="1417320" y="1152144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 Layer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417320" y="148132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Templates (Jinja2)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434840" y="1856232"/>
            <a:ext cx="274320" cy="40233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80160" y="2267712"/>
            <a:ext cx="6583680" cy="749808"/>
          </a:xfrm>
          <a:prstGeom prst="rect">
            <a:avLst/>
          </a:prstGeom>
          <a:solidFill>
            <a:schemeClr val="accent5">
              <a:lumMod val="75000"/>
            </a:schemeClr>
          </a:solidFill>
          <a:ln/>
        </p:spPr>
      </p:sp>
      <p:sp>
        <p:nvSpPr>
          <p:cNvPr id="8" name="Text 6"/>
          <p:cNvSpPr/>
          <p:nvPr/>
        </p:nvSpPr>
        <p:spPr>
          <a:xfrm>
            <a:off x="1417320" y="2322576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Application Layer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17320" y="265176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Routes · Python Logic · DSA Modules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34840" y="3026664"/>
            <a:ext cx="274320" cy="40233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80160" y="3438144"/>
            <a:ext cx="6583680" cy="749808"/>
          </a:xfrm>
          <a:prstGeom prst="rect">
            <a:avLst/>
          </a:prstGeom>
          <a:solidFill>
            <a:schemeClr val="accent1">
              <a:lumMod val="50000"/>
            </a:schemeClr>
          </a:solidFill>
          <a:ln/>
        </p:spPr>
      </p:sp>
      <p:sp>
        <p:nvSpPr>
          <p:cNvPr id="12" name="Text 10"/>
          <p:cNvSpPr/>
          <p:nvPr/>
        </p:nvSpPr>
        <p:spPr>
          <a:xfrm>
            <a:off x="1417320" y="349300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Layer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17320" y="382219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Database · In-Memory Cache (Dict/Heap/Deque)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01000" y="1005840"/>
            <a:ext cx="914400" cy="3566160"/>
          </a:xfrm>
          <a:prstGeom prst="rect">
            <a:avLst/>
          </a:prstGeom>
          <a:solidFill>
            <a:schemeClr val="tx2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19288" y="1143000"/>
            <a:ext cx="877824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</a:t>
            </a:r>
            <a:endParaRPr lang="en-US" sz="900" dirty="0">
              <a:solidFill>
                <a:schemeClr val="bg2"/>
              </a:solidFill>
            </a:endParaRPr>
          </a:p>
          <a:p>
            <a:pPr marL="0" indent="0" algn="ctr">
              <a:buNone/>
            </a:pPr>
            <a:r>
              <a:rPr lang="en-US" sz="9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</a:t>
            </a:r>
            <a:endParaRPr lang="en-US" sz="900" dirty="0">
              <a:solidFill>
                <a:schemeClr val="bg2"/>
              </a:solidFill>
            </a:endParaRPr>
          </a:p>
          <a:p>
            <a:pPr marL="0" indent="0" algn="ctr">
              <a:buNone/>
            </a:pPr>
            <a:r>
              <a:rPr lang="en-US" sz="9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</a:t>
            </a:r>
            <a:endParaRPr lang="en-US" sz="900" dirty="0">
              <a:solidFill>
                <a:schemeClr val="bg2"/>
              </a:solidFill>
            </a:endParaRPr>
          </a:p>
          <a:p>
            <a:pPr marL="0" indent="0" algn="ctr">
              <a:buNone/>
            </a:pPr>
            <a:r>
              <a:rPr lang="en-US" sz="9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900" dirty="0">
              <a:solidFill>
                <a:schemeClr val="bg2"/>
              </a:solidFill>
            </a:endParaRPr>
          </a:p>
          <a:p>
            <a:pPr marL="0" indent="0" algn="ctr">
              <a:buNone/>
            </a:pPr>
            <a:r>
              <a:rPr lang="en-US" sz="9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</a:t>
            </a:r>
            <a:endParaRPr lang="en-US" sz="900" dirty="0">
              <a:solidFill>
                <a:schemeClr val="bg2"/>
              </a:solidFill>
            </a:endParaRPr>
          </a:p>
          <a:p>
            <a:pPr marL="0" indent="0" algn="ctr">
              <a:buNone/>
            </a:pPr>
            <a:r>
              <a:rPr lang="en-US" sz="9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</a:t>
            </a:r>
            <a:endParaRPr lang="en-US" sz="900" dirty="0">
              <a:solidFill>
                <a:schemeClr val="bg2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acts as the bridge — routing user requests, invoking DSA logic, and reading/writing to MySQL.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bg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Structures Used</a:t>
            </a:r>
            <a:endParaRPr lang="en-US" sz="3000" dirty="0">
              <a:solidFill>
                <a:schemeClr val="bg2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256032" y="960120"/>
            <a:ext cx="416052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56032" y="960120"/>
            <a:ext cx="64008" cy="114300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02336" y="103327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Dictionary (HashMap)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56432" y="1051560"/>
            <a:ext cx="868680" cy="228600"/>
          </a:xfrm>
          <a:prstGeom prst="rect">
            <a:avLst/>
          </a:prstGeom>
          <a:solidFill>
            <a:srgbClr val="E63946"/>
          </a:solidFill>
          <a:ln w="12700">
            <a:solidFill>
              <a:schemeClr val="accent6">
                <a:lumMod val="60000"/>
                <a:lumOff val="40000"/>
              </a:scheme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56432" y="1051560"/>
            <a:ext cx="868680" cy="228600"/>
          </a:xfrm>
          <a:prstGeom prst="rect">
            <a:avLst/>
          </a:prstGeom>
          <a:solidFill>
            <a:schemeClr val="tx2">
              <a:lumMod val="75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 lookup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02336" y="1362456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station_cache, train_cache, session{}, seat_col_map, price_col_map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18304" y="960120"/>
            <a:ext cx="416052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18304" y="960120"/>
            <a:ext cx="64008" cy="114300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64608" y="103327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List / Array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918704" y="1051560"/>
            <a:ext cx="868680" cy="228600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>
            <a:solidFill>
              <a:schemeClr val="accent6">
                <a:lumMod val="60000"/>
                <a:lumOff val="40000"/>
              </a:scheme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18704" y="1051560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 build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864608" y="1362456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name_l[], age_l[], seats[], ids[], parallel passenger arrays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56032" y="2258568"/>
            <a:ext cx="416052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56032" y="2258568"/>
            <a:ext cx="64008" cy="114300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2336" y="23317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456432" y="2350008"/>
            <a:ext cx="868680" cy="228600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>
            <a:solidFill>
              <a:schemeClr val="accent6">
                <a:lumMod val="60000"/>
                <a:lumOff val="40000"/>
              </a:schemeClr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9" name="Text 17"/>
          <p:cNvSpPr/>
          <p:nvPr/>
        </p:nvSpPr>
        <p:spPr>
          <a:xfrm>
            <a:off x="3456432" y="2350008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 member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02336" y="2660904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visited set in Dijkstra — prevents revisiting stations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18304" y="2258568"/>
            <a:ext cx="4160520" cy="1143000"/>
          </a:xfrm>
          <a:prstGeom prst="rect">
            <a:avLst/>
          </a:prstGeom>
          <a:solidFill>
            <a:srgbClr val="FFFFFF"/>
          </a:solidFill>
          <a:ln>
            <a:solidFill>
              <a:schemeClr val="accent6">
                <a:lumMod val="60000"/>
                <a:lumOff val="40000"/>
              </a:schemeClr>
            </a:solidFill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18304" y="2258568"/>
            <a:ext cx="64008" cy="114300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64608" y="23317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Deque (Queue)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918704" y="2350008"/>
            <a:ext cx="868680" cy="2286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18704" y="2350008"/>
            <a:ext cx="868680" cy="2286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 enqueue/dequeue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864608" y="2660904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waiting_list_queue — FIFO seat allocation on cancellation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56032" y="3557016"/>
            <a:ext cx="416052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56032" y="3557016"/>
            <a:ext cx="64008" cy="114300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02336" y="36301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Heap (Priority Queue)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456432" y="3648456"/>
            <a:ext cx="868680" cy="228600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>
            <a:solidFill>
              <a:schemeClr val="accent6">
                <a:lumMod val="60000"/>
                <a:lumOff val="40000"/>
              </a:scheme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56432" y="3648456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O(log n) push/pop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02336" y="3959352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 min-heap + waiting_priority_queue for senior citizens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18304" y="3557016"/>
            <a:ext cx="416052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18304" y="3557016"/>
            <a:ext cx="64008" cy="114300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64608" y="36301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OrderedDict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918704" y="3648456"/>
            <a:ext cx="868680" cy="228600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>
            <a:solidFill>
              <a:schemeClr val="accent6">
                <a:lumMod val="60000"/>
                <a:lumOff val="40000"/>
              </a:scheme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918704" y="3648456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 access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864608" y="3959352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booking_record — preserves booking summary insertion order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bg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Dijkstra's Algorithm — Cheapest Route Finder</a:t>
            </a:r>
            <a:endParaRPr lang="en-US" sz="2600" dirty="0">
              <a:solidFill>
                <a:schemeClr val="bg2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274320" y="914400"/>
            <a:ext cx="3931920" cy="2462213"/>
          </a:xfrm>
          <a:prstGeom prst="rect">
            <a:avLst/>
          </a:prstGeom>
          <a:solidFill>
            <a:srgbClr val="F0F4F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05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6C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11480" y="1417320"/>
            <a:ext cx="3657600" cy="18926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Build graph as adjacency list (Dict) from DB route prices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Initialize min-heap with (cost=0, start_station, path)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Pop cheapest node; if visited → skip (Set lookup)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For each neighbour, push (total_cost, neighbour, path)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When destination popped → return cost &amp; path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If heap empty &amp; dest not reached → return ∞ (no route)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434840" y="914400"/>
            <a:ext cx="1937385" cy="1691640"/>
          </a:xfrm>
          <a:prstGeom prst="rect">
            <a:avLst/>
          </a:prstGeom>
          <a:solidFill>
            <a:schemeClr val="tx2">
              <a:lumMod val="75000"/>
            </a:schemeClr>
          </a:solidFill>
          <a:ln/>
        </p:spPr>
      </p:sp>
      <p:sp>
        <p:nvSpPr>
          <p:cNvPr id="7" name="Text 5"/>
          <p:cNvSpPr/>
          <p:nvPr/>
        </p:nvSpPr>
        <p:spPr>
          <a:xfrm>
            <a:off x="4572000" y="10058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Complexity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0" y="137160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8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Time: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O((V + E) log V)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0" y="16459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8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Space: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O(V)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0" y="19202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8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V: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stations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0" y="219456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8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E: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direct routes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434840" y="2743200"/>
            <a:ext cx="3118485" cy="2103120"/>
          </a:xfrm>
          <a:prstGeom prst="rect">
            <a:avLst/>
          </a:prstGeom>
          <a:solidFill>
            <a:srgbClr val="F0F4F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28346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6C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DSA Components Inside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0" y="320040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Min-Heap (heapq) — O(log V) pop/push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0" y="361188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Adjacency List (Dict) — O(1) neighbour lookup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0" y="402336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Visited Set — O(1) duplicate check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0" y="44348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List — tracks path for route display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bg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Waiting List Management — Queue &amp; Priority Queue</a:t>
            </a:r>
            <a:endParaRPr lang="en-US" sz="2400" dirty="0">
              <a:solidFill>
                <a:schemeClr val="bg2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274320" y="1247775"/>
            <a:ext cx="4114800" cy="272415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74320" y="1247775"/>
            <a:ext cx="4114800" cy="73152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384935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6C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FIFO Queue (Deque)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1842135"/>
            <a:ext cx="3584258" cy="19916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Structure: collections.deque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trainno_date_category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enqueue_waiting() → deque.append() — O(1)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dequeue_waiting() → deque.popleft() — O(1)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cancellation: first passenger in queue confirmed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first-come, first-served fairness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247775"/>
            <a:ext cx="4114800" cy="272415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1247775"/>
            <a:ext cx="4114800" cy="73152"/>
          </a:xfrm>
          <a:prstGeom prst="rect">
            <a:avLst/>
          </a:prstGeom>
          <a:solidFill>
            <a:schemeClr val="accent6">
              <a:lumMod val="50000"/>
            </a:schemeClr>
          </a:solidFill>
          <a:ln w="12700">
            <a:solidFill>
              <a:schemeClr val="accent6">
                <a:lumMod val="60000"/>
                <a:lumOff val="40000"/>
              </a:scheme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1384935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6">
                    <a:lumMod val="75000"/>
                  </a:scheme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Priority Queue (heapq)</a:t>
            </a:r>
            <a:endParaRPr lang="en-US" sz="14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4892040" y="1842135"/>
            <a:ext cx="3840480" cy="18154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Structure: heapq (min-heap)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trainno_date_category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priority_enqueue() → heappush — O(log n)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priority_dequeue() → heappop — O(log n)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0 → Senior Citizen (age ≥ 60)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1 → Normal Passenger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cancellation: highest priority passenger confirmed first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bg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Binary Search — Train Number Lookup</a:t>
            </a:r>
            <a:endParaRPr lang="en-US" sz="2800" dirty="0">
              <a:solidFill>
                <a:schemeClr val="bg2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274320" y="960120"/>
            <a:ext cx="4701378" cy="2541837"/>
          </a:xfrm>
          <a:prstGeom prst="rect">
            <a:avLst/>
          </a:prstGeom>
          <a:solidFill>
            <a:srgbClr val="F0F4F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515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6C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It's Used in the Code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11480" y="1463040"/>
            <a:ext cx="4500988" cy="203891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Fetch trains departing from source station → list_a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Fetch trains arriving at destination → list_b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Sort list_a — O(n log n) — required for binary search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 For each train in list_b, binary_search(list_a, trainno)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5: If found → train serves both stations → add to results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complexity: O(m log n)  vs  O(n×m) for naive linear search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532120" y="960120"/>
            <a:ext cx="1802130" cy="1554480"/>
          </a:xfrm>
          <a:prstGeom prst="rect">
            <a:avLst/>
          </a:prstGeom>
          <a:solidFill>
            <a:schemeClr val="tx2">
              <a:lumMod val="75000"/>
            </a:schemeClr>
          </a:solidFill>
          <a:ln/>
        </p:spPr>
      </p:sp>
      <p:sp>
        <p:nvSpPr>
          <p:cNvPr id="7" name="Text 5"/>
          <p:cNvSpPr/>
          <p:nvPr/>
        </p:nvSpPr>
        <p:spPr>
          <a:xfrm>
            <a:off x="5669280" y="102412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Complexity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0" y="13716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8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Search: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O(log n)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0" y="170078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8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Sort: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 log n)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669280" y="20299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8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O(m log n)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532120" y="2697480"/>
            <a:ext cx="2759393" cy="2103120"/>
          </a:xfrm>
          <a:prstGeom prst="rect">
            <a:avLst/>
          </a:prstGeom>
          <a:solidFill>
            <a:srgbClr val="F0F4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23560" y="278892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6C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binary_search(sorted_list, target)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650992" y="313639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 = 0, high = len(list) - 1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650992" y="341071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mid = (low + high) // 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650992" y="368503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match → return index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650992" y="395935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target &gt; mid → search right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650992" y="423367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target &lt; mid → search left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650992" y="450799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 found → return -1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bg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Ticket</a:t>
            </a:r>
            <a:r>
              <a:rPr lang="en-US" sz="30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Booking Flow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56032" y="1005840"/>
            <a:ext cx="201168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29184" y="1097280"/>
            <a:ext cx="347472" cy="347472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9184" y="10972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112471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Login Check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47472" y="1508760"/>
            <a:ext cx="1828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session['ID'] verified via Dictionary O(1)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32304" y="1005840"/>
            <a:ext cx="201168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05456" y="1097280"/>
            <a:ext cx="347472" cy="347472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05456" y="10972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907792" y="112471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 Search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523744" y="1508760"/>
            <a:ext cx="1828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Search on sorted train list O(m log n)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08576" y="1005840"/>
            <a:ext cx="201168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81728" y="1097280"/>
            <a:ext cx="347472" cy="347472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81728" y="10972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84064" y="112471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Seat Availability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00016" y="1508760"/>
            <a:ext cx="1828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query → read Nseats &amp; WL count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784848" y="1005840"/>
            <a:ext cx="201168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858000" y="1097280"/>
            <a:ext cx="347472" cy="347472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0" y="10972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260336" y="112471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Seats Available?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76288" y="1508760"/>
            <a:ext cx="1828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Nseats &gt; 0 → Book; else → Priority Enqueue O(log n)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56032" y="2926080"/>
            <a:ext cx="201168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9184" y="3017520"/>
            <a:ext cx="347472" cy="347472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9184" y="30175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31520" y="304495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Price Calc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47472" y="3429000"/>
            <a:ext cx="1828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accumulation over route segments O(stops)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432304" y="2926080"/>
            <a:ext cx="201168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505456" y="3017520"/>
            <a:ext cx="347472" cy="347472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05456" y="30175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907792" y="304495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Passenger Arrays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523744" y="3429000"/>
            <a:ext cx="1828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name[], age[], sex[], food[] in O(n)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08576" y="2926080"/>
            <a:ext cx="201168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681728" y="3017520"/>
            <a:ext cx="347472" cy="347472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81728" y="30175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084064" y="304495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Insert Tickets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700016" y="3429000"/>
            <a:ext cx="1828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iteration → INSERT per passenger O(n)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784848" y="2926080"/>
            <a:ext cx="201168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858000" y="3017520"/>
            <a:ext cx="347472" cy="347472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58000" y="30175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260336" y="304495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Confirmation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876288" y="3429000"/>
            <a:ext cx="1828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OrderedDict → session → Email confirmation sent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bg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Ticket Cancellation &amp; Waiting List Promotion</a:t>
            </a:r>
            <a:endParaRPr lang="en-US" sz="2600" dirty="0">
              <a:solidFill>
                <a:schemeClr val="bg2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925342" y="768096"/>
            <a:ext cx="6949440" cy="512064"/>
          </a:xfrm>
          <a:prstGeom prst="rect">
            <a:avLst/>
          </a:prstGeom>
          <a:solidFill>
            <a:schemeClr val="bg2">
              <a:lumMod val="90000"/>
            </a:schemeClr>
          </a:solidFill>
          <a:ln/>
        </p:spPr>
      </p:sp>
      <p:sp>
        <p:nvSpPr>
          <p:cNvPr id="4" name="Text 2"/>
          <p:cNvSpPr/>
          <p:nvPr/>
        </p:nvSpPr>
        <p:spPr>
          <a:xfrm>
            <a:off x="1062502" y="804672"/>
            <a:ext cx="6675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Requests Cancellation</a:t>
            </a:r>
            <a:endParaRPr lang="en-US" sz="1200" dirty="0">
              <a:solidFill>
                <a:srgbClr val="002060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4308622" y="1289304"/>
            <a:ext cx="182880" cy="137160"/>
          </a:xfrm>
          <a:prstGeom prst="rect">
            <a:avLst/>
          </a:prstGeom>
          <a:solidFill>
            <a:srgbClr val="6B7C93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25342" y="1426464"/>
            <a:ext cx="6949440" cy="51206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/>
        </p:spPr>
      </p:sp>
      <p:sp>
        <p:nvSpPr>
          <p:cNvPr id="7" name="Text 5"/>
          <p:cNvSpPr/>
          <p:nvPr/>
        </p:nvSpPr>
        <p:spPr>
          <a:xfrm>
            <a:off x="1062502" y="1463040"/>
            <a:ext cx="6675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Tatkal? → Cancellation NOT allowed</a:t>
            </a:r>
            <a:endParaRPr lang="en-US" sz="1200" dirty="0">
              <a:solidFill>
                <a:srgbClr val="002060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4308622" y="1947672"/>
            <a:ext cx="182880" cy="137160"/>
          </a:xfrm>
          <a:prstGeom prst="rect">
            <a:avLst/>
          </a:prstGeom>
          <a:solidFill>
            <a:srgbClr val="6B7C93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5342" y="2084832"/>
            <a:ext cx="6949440" cy="51206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</p:sp>
      <p:sp>
        <p:nvSpPr>
          <p:cNvPr id="10" name="Text 8"/>
          <p:cNvSpPr/>
          <p:nvPr/>
        </p:nvSpPr>
        <p:spPr>
          <a:xfrm>
            <a:off x="1062502" y="2121408"/>
            <a:ext cx="6675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Ticket Status → 'CXL' in DB</a:t>
            </a:r>
            <a:endParaRPr lang="en-US" sz="1200" dirty="0">
              <a:solidFill>
                <a:srgbClr val="002060"/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4308622" y="2606040"/>
            <a:ext cx="182880" cy="137160"/>
          </a:xfrm>
          <a:prstGeom prst="rect">
            <a:avLst/>
          </a:prstGeom>
          <a:solidFill>
            <a:srgbClr val="6B7C93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25342" y="2743200"/>
            <a:ext cx="6949440" cy="51206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</p:spPr>
      </p:sp>
      <p:sp>
        <p:nvSpPr>
          <p:cNvPr id="13" name="Text 11"/>
          <p:cNvSpPr/>
          <p:nvPr/>
        </p:nvSpPr>
        <p:spPr>
          <a:xfrm>
            <a:off x="1062502" y="2779776"/>
            <a:ext cx="6675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 seat count in availability table</a:t>
            </a:r>
            <a:endParaRPr lang="en-US" sz="1200" dirty="0">
              <a:solidFill>
                <a:srgbClr val="002060"/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308622" y="3264408"/>
            <a:ext cx="182880" cy="137160"/>
          </a:xfrm>
          <a:prstGeom prst="rect">
            <a:avLst/>
          </a:prstGeom>
          <a:solidFill>
            <a:srgbClr val="6B7C93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25342" y="3401568"/>
            <a:ext cx="6949440" cy="51206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/>
        </p:spPr>
      </p:sp>
      <p:sp>
        <p:nvSpPr>
          <p:cNvPr id="16" name="Text 14"/>
          <p:cNvSpPr/>
          <p:nvPr/>
        </p:nvSpPr>
        <p:spPr>
          <a:xfrm>
            <a:off x="1062502" y="3438144"/>
            <a:ext cx="6675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wl_count &gt; 0?  Check waiting list</a:t>
            </a:r>
            <a:endParaRPr lang="en-US" sz="1200" dirty="0">
              <a:solidFill>
                <a:srgbClr val="002060"/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308622" y="3922776"/>
            <a:ext cx="182880" cy="137160"/>
          </a:xfrm>
          <a:prstGeom prst="rect">
            <a:avLst/>
          </a:prstGeom>
          <a:solidFill>
            <a:srgbClr val="6B7C93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25342" y="4059936"/>
            <a:ext cx="6949440" cy="51206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/>
        </p:spPr>
      </p:sp>
      <p:sp>
        <p:nvSpPr>
          <p:cNvPr id="19" name="Text 17"/>
          <p:cNvSpPr/>
          <p:nvPr/>
        </p:nvSpPr>
        <p:spPr>
          <a:xfrm>
            <a:off x="1062502" y="4096512"/>
            <a:ext cx="6675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priority_dequeue() → O(log n)</a:t>
            </a:r>
            <a:endParaRPr lang="en-US" sz="1200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priority passenger confirmed</a:t>
            </a:r>
            <a:endParaRPr lang="en-US" sz="1200" dirty="0">
              <a:solidFill>
                <a:srgbClr val="002060"/>
              </a:solidFill>
            </a:endParaRPr>
          </a:p>
        </p:txBody>
      </p:sp>
      <p:sp>
        <p:nvSpPr>
          <p:cNvPr id="20" name="Shape 18"/>
          <p:cNvSpPr/>
          <p:nvPr/>
        </p:nvSpPr>
        <p:spPr>
          <a:xfrm>
            <a:off x="301674" y="4663440"/>
            <a:ext cx="5505739" cy="329184"/>
          </a:xfrm>
          <a:prstGeom prst="rect">
            <a:avLst/>
          </a:prstGeom>
          <a:solidFill>
            <a:srgbClr val="F0F4F8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1" name="Text 19"/>
          <p:cNvSpPr/>
          <p:nvPr/>
        </p:nvSpPr>
        <p:spPr>
          <a:xfrm>
            <a:off x="411480" y="4700016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Used: Dictionary (column maps) · Priority Queue (promotion) · Deque (FIFO queue) · List (DB rows)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bg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Database Schema (MySQL)</a:t>
            </a:r>
            <a:endParaRPr lang="en-US" sz="3000" dirty="0">
              <a:solidFill>
                <a:schemeClr val="bg2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256032" y="960120"/>
            <a:ext cx="4160520" cy="62179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56032" y="960120"/>
            <a:ext cx="64008" cy="62179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93192" y="100584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Userdetails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93192" y="12618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Password, Name, DOB, Gender, Email, Mobile, Address…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663440" y="960120"/>
            <a:ext cx="4160520" cy="62179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663440" y="960120"/>
            <a:ext cx="64008" cy="62179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0600" y="100584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Traindetails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00600" y="12618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Trainno, Trainname, Startstation, Endstation, Starttime, Endtime, Mon–Sun flags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56032" y="1709928"/>
            <a:ext cx="4160520" cy="62179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" y="1709928"/>
            <a:ext cx="64008" cy="62179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3192" y="175564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93192" y="20116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RouteID, Trainno, Stopnumber, Deptstation, Depttime, Arrivalstation, Arrivaltime, Deptday, Arrivalday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663440" y="1709928"/>
            <a:ext cx="4160520" cy="62179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1709928"/>
            <a:ext cx="64008" cy="62179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175564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Generalseatavailability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00600" y="20116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Trainno, Classtype, Date, SLseats, SLWL, 3Aseats, 3AWL, 2Aseats, 2AWL, 1Aseats, 1AWL, CCseats, CCWL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56032" y="2459736"/>
            <a:ext cx="4160520" cy="62179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6032" y="2459736"/>
            <a:ext cx="64008" cy="62179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3192" y="2505456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Tatkalseatavailability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93192" y="276148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structure as Generalseatavailability for Tatkal bookings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663440" y="2459736"/>
            <a:ext cx="4160520" cy="62179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63440" y="2459736"/>
            <a:ext cx="64008" cy="62179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2505456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Generalrouteprices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00600" y="276148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RouteID, SLprice, 3Aprice, 2Aprice, 1Aprice, CCprice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56032" y="3209544"/>
            <a:ext cx="4160520" cy="62179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56032" y="3209544"/>
            <a:ext cx="64008" cy="62179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93192" y="3255264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Tatkalrouteprices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93192" y="351129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RouteID, SLprice, 3Aprice, 2Aprice, 1Aprice, CCprice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663440" y="3209544"/>
            <a:ext cx="4160520" cy="62179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63440" y="3209544"/>
            <a:ext cx="64008" cy="62179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0600" y="3255264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Ticket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00600" y="351129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PNR, PassengerID, UserID, Category, Type, Trainno, Status, Seatno, BoardStation, Depttime, ArrStation, Arrtime, Date, Price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56032" y="3959352"/>
            <a:ext cx="4160520" cy="62179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56032" y="3959352"/>
            <a:ext cx="64008" cy="62179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93192" y="400507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Passengerdetails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93192" y="426110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PassengerID, UserID, Name, Gender, Foodtype, Age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663440" y="3959352"/>
            <a:ext cx="4160520" cy="62179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663440" y="3959352"/>
            <a:ext cx="64008" cy="62179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00600" y="400507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800600" y="426110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UserID, Password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bg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Algorithm &amp; Complexity Summary</a:t>
            </a:r>
            <a:endParaRPr lang="en-US" sz="2800" dirty="0">
              <a:solidFill>
                <a:schemeClr val="bg2"/>
              </a:solidFill>
            </a:endParaRPr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8627574"/>
              </p:ext>
            </p:extLst>
          </p:nvPr>
        </p:nvGraphicFramePr>
        <p:xfrm>
          <a:off x="274320" y="899809"/>
          <a:ext cx="8412480" cy="402336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Algorithm / Operation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Data Structure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Time Complexity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Used In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Dijkstra Shortest Path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Heap + Set + Dict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O((V+E) log V)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Cheapest Route Finder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 Enqueue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heapq (min-heap)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O(log 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Waiting List (booking)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 Dequeue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heapq (min-heap)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O(log 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Waiting List (cancellation)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FIFO Enqueue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collections.deque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Waiting Queue (normal)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FIFO Dequeue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collections.deque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Waiting Queue (cancellation)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 Search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Sorted List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O(log 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 number lookup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Sort (pre–binary search)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 log 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Sort train list for search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Array Build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Passenger data construction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Accumulation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 (segments)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O(segments)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Fare calculation per route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Hash Lookup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Dictionary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Caches, maps, session data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bg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 Stack &amp; Libraries</a:t>
            </a:r>
            <a:endParaRPr lang="en-US" sz="3000" dirty="0">
              <a:solidFill>
                <a:schemeClr val="bg2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256032" y="1005840"/>
            <a:ext cx="416052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56032" y="1005840"/>
            <a:ext cx="4160520" cy="64008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93192" y="111556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Backend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93192" y="1490472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3.x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(Web Framework)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Flask-Mail (Email Notifications)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mysql-connector-python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3440" y="1005840"/>
            <a:ext cx="416052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663440" y="1005840"/>
            <a:ext cx="4160520" cy="64008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0600" y="111556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Database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00600" y="1490472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(Railway DB)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Tables: 11 domain tables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Buffered cursor for efficient fetch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6032" y="2971800"/>
            <a:ext cx="416052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" y="2971800"/>
            <a:ext cx="4160520" cy="64008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3192" y="308152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DSA Libraries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93192" y="3456432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heapq — Priority Queue / Dijkstra Heap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collections.deque — FIFO Queue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collections.OrderedDict — Ordered booking record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2971800"/>
            <a:ext cx="416052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2971800"/>
            <a:ext cx="4160520" cy="64008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308152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00600" y="3456432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+ Jinja2 Templates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session management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Form-based user interactions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bg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Challenges &amp; Learnings</a:t>
            </a:r>
            <a:endParaRPr lang="en-US" sz="3000" dirty="0">
              <a:solidFill>
                <a:schemeClr val="bg2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411480" y="922020"/>
            <a:ext cx="3773805" cy="3540443"/>
          </a:xfrm>
          <a:prstGeom prst="rect">
            <a:avLst/>
          </a:prstGeom>
          <a:solidFill>
            <a:srgbClr val="F0F4F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134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>
                    <a:lumMod val="75000"/>
                  </a:scheme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⚡  Challenges Faced</a:t>
            </a:r>
            <a:endParaRPr lang="en-US" sz="1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1470660"/>
            <a:ext cx="3493770" cy="27965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heap consistent with DB state across booking/cancellation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graph construction for Dijkstra from JOIN query results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Multi-passenger parallel array sync during booking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state management across multiple Flask routes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Day-wise train filtering before releasing seat records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Avoiding double-booking when seat count hits exactly zero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821555" y="960120"/>
            <a:ext cx="3773805" cy="3502343"/>
          </a:xfrm>
          <a:prstGeom prst="rect">
            <a:avLst/>
          </a:prstGeom>
          <a:solidFill>
            <a:srgbClr val="F0F4F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58715" y="10515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6C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💡  Key Learnings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58715" y="1508760"/>
            <a:ext cx="3237548" cy="27965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Dijkstra's algorithm naturally models real-world route pricing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right structure (Heap vs Deque) drastically changes time complexity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search over sorted lists is far superior to nested loops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 eliminate repeated DB calls via O(1) caching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OrderedDict provides clean, predictable booking records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is not just theory — every structure here solves a real user problem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bg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Future Enhancements</a:t>
            </a:r>
            <a:endParaRPr lang="en-US" sz="3000" dirty="0">
              <a:solidFill>
                <a:schemeClr val="bg2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670369" y="994409"/>
            <a:ext cx="2724912" cy="1737360"/>
          </a:xfrm>
          <a:prstGeom prst="rect">
            <a:avLst/>
          </a:prstGeom>
          <a:solidFill>
            <a:schemeClr val="bg2">
              <a:lumMod val="90000"/>
            </a:schemeClr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4" name="Text 2"/>
          <p:cNvSpPr/>
          <p:nvPr/>
        </p:nvSpPr>
        <p:spPr>
          <a:xfrm>
            <a:off x="807529" y="1136141"/>
            <a:ext cx="310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IN" sz="2200" dirty="0"/>
              <a:t>🤖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82433" y="1136141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200" b="1" dirty="0"/>
              <a:t>Artificial Intelligence Integration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80097" y="1593341"/>
            <a:ext cx="24871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/>
              <a:t>AI can predict delays, optimize schedules, and analyze passenger demand to improve decisions.</a:t>
            </a:r>
          </a:p>
        </p:txBody>
      </p:sp>
      <p:sp>
        <p:nvSpPr>
          <p:cNvPr id="7" name="Shape 5"/>
          <p:cNvSpPr/>
          <p:nvPr/>
        </p:nvSpPr>
        <p:spPr>
          <a:xfrm>
            <a:off x="4521518" y="994409"/>
            <a:ext cx="2724912" cy="17373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8" name="Text 6"/>
          <p:cNvSpPr/>
          <p:nvPr/>
        </p:nvSpPr>
        <p:spPr>
          <a:xfrm>
            <a:off x="4631246" y="1085849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IN" sz="2200" dirty="0"/>
              <a:t>🗺️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143310" y="1122425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200" b="1" dirty="0"/>
              <a:t>Real-Time Train Tracking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631246" y="1588769"/>
            <a:ext cx="24871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/>
              <a:t>GPS and IoT sensors can provide live train location, arrival time, and platform updates.</a:t>
            </a:r>
          </a:p>
        </p:txBody>
      </p:sp>
      <p:sp>
        <p:nvSpPr>
          <p:cNvPr id="15" name="Shape 13"/>
          <p:cNvSpPr/>
          <p:nvPr/>
        </p:nvSpPr>
        <p:spPr>
          <a:xfrm>
            <a:off x="1284732" y="2990087"/>
            <a:ext cx="2724912" cy="173736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389697" y="3127247"/>
            <a:ext cx="3246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IN" sz="2200" dirty="0"/>
              <a:t>📲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792224" y="3118103"/>
            <a:ext cx="2231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200" b="1" dirty="0"/>
              <a:t>Mobile Application Development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394460" y="3584447"/>
            <a:ext cx="24871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/>
              <a:t>A mobile app can help users book tickets, track trains, and manage reservations easily.</a:t>
            </a:r>
          </a:p>
        </p:txBody>
      </p:sp>
      <p:sp>
        <p:nvSpPr>
          <p:cNvPr id="19" name="Shape 17"/>
          <p:cNvSpPr/>
          <p:nvPr/>
        </p:nvSpPr>
        <p:spPr>
          <a:xfrm>
            <a:off x="5117973" y="2990087"/>
            <a:ext cx="2724912" cy="173736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20" name="Text 18"/>
          <p:cNvSpPr/>
          <p:nvPr/>
        </p:nvSpPr>
        <p:spPr>
          <a:xfrm>
            <a:off x="5281803" y="3127247"/>
            <a:ext cx="3848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IN" sz="2200" dirty="0"/>
              <a:t>☁️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739765" y="3118103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200" b="1" dirty="0"/>
              <a:t>Cloud-Based Deployment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227701" y="3584447"/>
            <a:ext cx="24871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/>
              <a:t>Cloud deployment can improve scalability, reliability, and backup support for large user traffic.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38D8359-C415-A136-09FE-39D7E6E87DED}"/>
              </a:ext>
            </a:extLst>
          </p:cNvPr>
          <p:cNvSpPr/>
          <p:nvPr/>
        </p:nvSpPr>
        <p:spPr>
          <a:xfrm>
            <a:off x="359923" y="1956816"/>
            <a:ext cx="7918315" cy="2850204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Shape 4"/>
          <p:cNvSpPr/>
          <p:nvPr/>
        </p:nvSpPr>
        <p:spPr>
          <a:xfrm flipV="1">
            <a:off x="754988" y="2245338"/>
            <a:ext cx="90488" cy="109728"/>
          </a:xfrm>
          <a:prstGeom prst="rect">
            <a:avLst/>
          </a:prstGeom>
          <a:solidFill>
            <a:schemeClr val="accent1">
              <a:lumMod val="40000"/>
              <a:lumOff val="60000"/>
              <a:alpha val="34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9303" y="2164566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8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Dijkstra's Algorithm —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the cheapest route across any station network in O((V+E) log V)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 flipV="1">
            <a:off x="754988" y="2629386"/>
            <a:ext cx="90488" cy="109728"/>
          </a:xfrm>
          <a:prstGeom prst="rect">
            <a:avLst/>
          </a:prstGeom>
          <a:solidFill>
            <a:schemeClr val="accent1">
              <a:lumMod val="40000"/>
              <a:lumOff val="60000"/>
              <a:alpha val="34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9303" y="2548614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8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Queue (heapq) —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senior citizens get waiting-list priority automatically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 flipV="1">
            <a:off x="754988" y="3013434"/>
            <a:ext cx="90488" cy="109728"/>
          </a:xfrm>
          <a:prstGeom prst="rect">
            <a:avLst/>
          </a:prstGeom>
          <a:solidFill>
            <a:schemeClr val="accent1">
              <a:lumMod val="40000"/>
              <a:lumOff val="60000"/>
              <a:alpha val="34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9303" y="2932662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8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Deque (FIFO Queue) —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Guarantees first-come-first-served for normal waiting passengers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 flipV="1">
            <a:off x="754988" y="3397482"/>
            <a:ext cx="90488" cy="109728"/>
          </a:xfrm>
          <a:prstGeom prst="rect">
            <a:avLst/>
          </a:prstGeom>
          <a:solidFill>
            <a:schemeClr val="accent1">
              <a:lumMod val="40000"/>
              <a:lumOff val="60000"/>
              <a:alpha val="34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9303" y="331671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8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Search —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train lookup from O(n×m) to O(m log n)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 flipV="1">
            <a:off x="754988" y="3781530"/>
            <a:ext cx="90488" cy="109728"/>
          </a:xfrm>
          <a:prstGeom prst="rect">
            <a:avLst/>
          </a:prstGeom>
          <a:solidFill>
            <a:schemeClr val="accent1">
              <a:lumMod val="40000"/>
              <a:lumOff val="60000"/>
              <a:alpha val="34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9303" y="370075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8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Dictionary / HashMap —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 caching eliminates repetitive database queries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 flipV="1">
            <a:off x="754988" y="4165578"/>
            <a:ext cx="90488" cy="109728"/>
          </a:xfrm>
          <a:prstGeom prst="rect">
            <a:avLst/>
          </a:prstGeom>
          <a:solidFill>
            <a:schemeClr val="accent1">
              <a:lumMod val="40000"/>
              <a:lumOff val="60000"/>
              <a:alpha val="34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9303" y="4084806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8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 &amp; OrderedDict —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passenger data management and ordered booking records</a:t>
            </a:r>
            <a:endParaRPr lang="en-US"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234DDF-EAC8-2A7F-08DB-A9D67AFB9150}"/>
              </a:ext>
            </a:extLst>
          </p:cNvPr>
          <p:cNvSpPr txBox="1"/>
          <p:nvPr/>
        </p:nvSpPr>
        <p:spPr>
          <a:xfrm>
            <a:off x="359923" y="267509"/>
            <a:ext cx="683854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000" dirty="0">
                <a:solidFill>
                  <a:schemeClr val="accent1">
                    <a:lumMod val="40000"/>
                    <a:lumOff val="60000"/>
                  </a:schemeClr>
                </a:solidFill>
                <a:latin typeface="Trebuchet MS" panose="020B0603020202020204" pitchFamily="34" charset="0"/>
              </a:rPr>
              <a:t>Results &amp; Analysis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A322A5-B334-E8E8-A27D-DC4B706B534A}"/>
              </a:ext>
            </a:extLst>
          </p:cNvPr>
          <p:cNvSpPr txBox="1"/>
          <p:nvPr/>
        </p:nvSpPr>
        <p:spPr>
          <a:xfrm>
            <a:off x="359922" y="966447"/>
            <a:ext cx="7918315" cy="830997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>
                    <a:lumMod val="95000"/>
                  </a:schemeClr>
                </a:solidFill>
              </a:rPr>
              <a:t>The project successfully implements major railway reservation features including train search, booking, ticket generation, cancellation, PNR lookup, waiting-list handling, and admin-side ticket release/control</a:t>
            </a:r>
            <a:endParaRPr lang="en-IN" sz="1600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15248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2060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11480" y="994430"/>
            <a:ext cx="8412480" cy="1155383"/>
          </a:xfrm>
          <a:prstGeom prst="rect">
            <a:avLst/>
          </a:prstGeom>
          <a:solidFill>
            <a:schemeClr val="accent3">
              <a:lumMod val="75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  <a:alpha val="40000"/>
              </a:scheme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954901"/>
            <a:ext cx="8138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This project proves that an effective user interface and efficient data structures together create a smart and reliable reservation system.</a:t>
            </a:r>
            <a:r>
              <a:rPr lang="en-US" sz="1250" dirty="0">
                <a:solidFill>
                  <a:schemeClr val="accent1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BB200F3-ACBC-A6F0-5CA3-14C2B61493DE}"/>
              </a:ext>
            </a:extLst>
          </p:cNvPr>
          <p:cNvSpPr/>
          <p:nvPr/>
        </p:nvSpPr>
        <p:spPr>
          <a:xfrm>
            <a:off x="411480" y="2385161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</a:rPr>
              <a:t>References</a:t>
            </a:r>
            <a:endParaRPr lang="en-US" sz="3600" dirty="0"/>
          </a:p>
        </p:txBody>
      </p:sp>
      <p:sp>
        <p:nvSpPr>
          <p:cNvPr id="19" name="Shape 2">
            <a:extLst>
              <a:ext uri="{FF2B5EF4-FFF2-40B4-BE49-F238E27FC236}">
                <a16:creationId xmlns:a16="http://schemas.microsoft.com/office/drawing/2014/main" id="{B0B401AD-11AB-78B7-AFDD-5E125ECFBCE5}"/>
              </a:ext>
            </a:extLst>
          </p:cNvPr>
          <p:cNvSpPr/>
          <p:nvPr/>
        </p:nvSpPr>
        <p:spPr>
          <a:xfrm>
            <a:off x="457200" y="3044565"/>
            <a:ext cx="8412480" cy="1778895"/>
          </a:xfrm>
          <a:prstGeom prst="rect">
            <a:avLst/>
          </a:prstGeom>
          <a:solidFill>
            <a:schemeClr val="accent3">
              <a:lumMod val="75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  <a:alpha val="40000"/>
              </a:schemeClr>
            </a:solidFill>
            <a:prstDash val="solid"/>
          </a:ln>
        </p:spPr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F161805-2B56-0AA7-CB83-A8D58DB4B373}"/>
              </a:ext>
            </a:extLst>
          </p:cNvPr>
          <p:cNvSpPr txBox="1"/>
          <p:nvPr/>
        </p:nvSpPr>
        <p:spPr>
          <a:xfrm>
            <a:off x="573932" y="3197406"/>
            <a:ext cx="811286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1">
                    <a:lumMod val="95000"/>
                  </a:schemeClr>
                </a:solidFill>
                <a:latin typeface="Trebuchet MS" panose="020B0603020202020204" pitchFamily="34" charset="0"/>
              </a:rPr>
              <a:t>Python 3 documentation and standard library documentation for </a:t>
            </a:r>
            <a:r>
              <a:rPr lang="en-US" sz="1100" dirty="0" err="1">
                <a:solidFill>
                  <a:schemeClr val="bg1">
                    <a:lumMod val="95000"/>
                  </a:schemeClr>
                </a:solidFill>
                <a:latin typeface="Trebuchet MS" panose="020B0603020202020204" pitchFamily="34" charset="0"/>
              </a:rPr>
              <a:t>heapq</a:t>
            </a:r>
            <a:r>
              <a:rPr lang="en-US" sz="1100" dirty="0">
                <a:solidFill>
                  <a:schemeClr val="bg1">
                    <a:lumMod val="95000"/>
                  </a:schemeClr>
                </a:solidFill>
                <a:latin typeface="Trebuchet MS" panose="020B0603020202020204" pitchFamily="34" charset="0"/>
              </a:rPr>
              <a:t>, </a:t>
            </a:r>
            <a:r>
              <a:rPr lang="en-US" sz="1100" dirty="0" err="1">
                <a:solidFill>
                  <a:schemeClr val="bg1">
                    <a:lumMod val="95000"/>
                  </a:schemeClr>
                </a:solidFill>
                <a:latin typeface="Trebuchet MS" panose="020B0603020202020204" pitchFamily="34" charset="0"/>
              </a:rPr>
              <a:t>collections.deque</a:t>
            </a:r>
            <a:r>
              <a:rPr lang="en-US" sz="1100" dirty="0">
                <a:solidFill>
                  <a:schemeClr val="bg1">
                    <a:lumMod val="95000"/>
                  </a:schemeClr>
                </a:solidFill>
                <a:latin typeface="Trebuchet MS" panose="020B0603020202020204" pitchFamily="34" charset="0"/>
              </a:rPr>
              <a:t>, and </a:t>
            </a:r>
            <a:r>
              <a:rPr lang="en-US" sz="1100" dirty="0" err="1">
                <a:solidFill>
                  <a:schemeClr val="bg1">
                    <a:lumMod val="95000"/>
                  </a:schemeClr>
                </a:solidFill>
                <a:latin typeface="Trebuchet MS" panose="020B0603020202020204" pitchFamily="34" charset="0"/>
              </a:rPr>
              <a:t>collections.OrderedDict</a:t>
            </a:r>
            <a:r>
              <a:rPr lang="en-US" sz="1100" dirty="0">
                <a:solidFill>
                  <a:schemeClr val="bg1">
                    <a:lumMod val="95000"/>
                  </a:schemeClr>
                </a:solidFill>
                <a:latin typeface="Trebuchet MS" panose="020B0603020202020204" pitchFamily="34" charset="0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1">
                    <a:lumMod val="95000"/>
                  </a:schemeClr>
                </a:solidFill>
                <a:latin typeface="Trebuchet MS" panose="020B0603020202020204" pitchFamily="34" charset="0"/>
              </a:rPr>
              <a:t>Flask documentation for routing, templates, session management, and backend application structure.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1">
                    <a:lumMod val="95000"/>
                  </a:schemeClr>
                </a:solidFill>
                <a:latin typeface="Trebuchet MS" panose="020B0603020202020204" pitchFamily="34" charset="0"/>
              </a:rPr>
              <a:t>MySQL and </a:t>
            </a:r>
            <a:r>
              <a:rPr lang="en-US" sz="1100" dirty="0" err="1">
                <a:solidFill>
                  <a:schemeClr val="bg1">
                    <a:lumMod val="95000"/>
                  </a:schemeClr>
                </a:solidFill>
                <a:latin typeface="Trebuchet MS" panose="020B0603020202020204" pitchFamily="34" charset="0"/>
              </a:rPr>
              <a:t>mysql</a:t>
            </a:r>
            <a:r>
              <a:rPr lang="en-US" sz="1100" dirty="0">
                <a:solidFill>
                  <a:schemeClr val="bg1">
                    <a:lumMod val="95000"/>
                  </a:schemeClr>
                </a:solidFill>
                <a:latin typeface="Trebuchet MS" panose="020B0603020202020204" pitchFamily="34" charset="0"/>
              </a:rPr>
              <a:t>-connector-python documentation for database connectivity and query execution.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1">
                    <a:lumMod val="95000"/>
                  </a:schemeClr>
                </a:solidFill>
                <a:latin typeface="Trebuchet MS" panose="020B0603020202020204" pitchFamily="34" charset="0"/>
              </a:rPr>
              <a:t>Course material, class notes, and standard Data Structures &amp; Algorithms references (w3schools , </a:t>
            </a:r>
            <a:r>
              <a:rPr lang="en-US" sz="1100" dirty="0" err="1">
                <a:solidFill>
                  <a:schemeClr val="bg1">
                    <a:lumMod val="95000"/>
                  </a:schemeClr>
                </a:solidFill>
                <a:latin typeface="Trebuchet MS" panose="020B0603020202020204" pitchFamily="34" charset="0"/>
              </a:rPr>
              <a:t>geeksforgeeks</a:t>
            </a:r>
            <a:r>
              <a:rPr lang="en-US" sz="1100" dirty="0">
                <a:solidFill>
                  <a:schemeClr val="bg1">
                    <a:lumMod val="95000"/>
                  </a:schemeClr>
                </a:solidFill>
                <a:latin typeface="Trebuchet MS" panose="020B0603020202020204" pitchFamily="34" charset="0"/>
              </a:rPr>
              <a:t>)for binary search, graphs, heaps, queues, dictionaries, and complexity analysis.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1">
                    <a:lumMod val="95000"/>
                  </a:schemeClr>
                </a:solidFill>
                <a:latin typeface="Trebuchet MS" panose="020B0603020202020204" pitchFamily="34" charset="0"/>
              </a:rPr>
              <a:t>Railway reservation system case studies, templates and domain understanding used for modeling booking, cancellation, waiting-list, and seat-allocation workflows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IN" sz="1100" dirty="0">
              <a:solidFill>
                <a:schemeClr val="bg1">
                  <a:lumMod val="95000"/>
                </a:schemeClr>
              </a:solidFill>
              <a:latin typeface="Trebuchet MS" panose="020B0603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</TotalTime>
  <Words>2379</Words>
  <Application>Microsoft Office PowerPoint</Application>
  <PresentationFormat>On-screen Show (16:9)</PresentationFormat>
  <Paragraphs>331</Paragraphs>
  <Slides>20</Slides>
  <Notes>16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Railway Reservation System – DSA Project</dc:title>
  <dc:subject>PptxGenJS Presentation</dc:subject>
  <dc:creator>PptxGenJS</dc:creator>
  <cp:lastModifiedBy>Axit K</cp:lastModifiedBy>
  <cp:revision>5</cp:revision>
  <dcterms:created xsi:type="dcterms:W3CDTF">2026-05-06T17:10:51Z</dcterms:created>
  <dcterms:modified xsi:type="dcterms:W3CDTF">2026-05-06T19:34:29Z</dcterms:modified>
</cp:coreProperties>
</file>